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everyone. Today, I am excited to present our project: the Intelligent Network Intrusion Detection System (AI-NIDS). Modern networks face an unprecedented volume of cyber threats ranging from automated DDoS floods to zero-day malware. AI-NIDS combines machine learning with real-time heuristic analysis inside a full-stack Security Operations Center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provides our project Abstract. In summary, traditional Network Intrusion Detection Systems fail when facing novel attacks because they rely strictly on pre-recorded signatures. In this work, we proposed and built AI-NIDS—a hybrid system combining Random Forest classification with Shannon Entropy randomness checks. It features a full-stack SOC web dashboard for live monitoring and automated incident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did we build AI-NIDS? Modern cyber threats have evolved beyond simple port scans. Attackers hide behind Domain Generation Algorithms, obfuscate webshells in Base64, and launch high-volume DDoS floods. Our vision for AI-NIDS was centered on four pillars: high accuracy, zero-day detection capability, multi-vector inspection, and an intuitive SOC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our Literature Review, we compared four major paradigms in network security. Legacy systems like Snort excel at known threats but fail completely against zero-day attacks. Deep learning models like LSTM require expensive GPUs and suffer from high latency and black-box opacity. AI-NIDS pairs Random Forest with Shannon Entropy calculations, yielding low latency and high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application is divided into four integrated modules. The Network Traffic Module processes raw flow telemetry. The URL Inspector identifies phishing links and botnet DGA hostnames. The File &amp; Payload Scanner detects webshells, SQL injection, and executable masquerading. Finally, the SOC Dashboard ties these components together into a single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hardware and software specifications for AI-NIDS. On the software side, we rely on React 19 and Vite for the frontend, FastAPI and Scikit-Learn for the backend, and Docker Compose for orchestration. For hardware, minimum deployment requires a 4-core CPU with 8GB RAM, while production SOC environments benefit from an 8-core CPU, 16GB to 32GB RAM, and NVMe SSDs.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outlines our detection algorithms. Algorithm 1 is our Random Forest classifier. It takes normalized flow vectors and feeds them to 100 decision trees. Algorithm 2 is our Shannon Entropy anomaly engine. By calculating the information entropy of domain names and binary payloads, we flag high randomness.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demonstrates our Security Operations Center user interface. The dashboard features real-time telemetry metrics across the top, dynamic time-series charts powered by Recharts in the center, and a live threat feed table at the bottom with one-click firewall blocking buttons. Analysts can also launch the integrated Attack Simulator to test model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our empirical evaluation results. Evaluated across synthetic network logs and simulated attack datasets, AI-NIDS achieved an overall precision of 97.0% and recall of 96.2%. Crucially, total inference latency averaged under 3.2 milliseconds per flow packet, satisfying strict real-time monitoring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AI-NIDS demonstrates that combining machine learning classifiers with mathematical entropy checks provides a highly effective defense against modern cyber threats. We have delivered a functional, production-ready full-stack application featuring a hybrid AI engine, an interactive SOC dashboard, and containerized cloud deployment capabilities.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ahead, our future roadmap includes three key developments: integrating LSTM neural networks for deep sequential pattern analysis, deploying distributed edge sensors across regional subnet routers, and building automated SOAR playbooks for dynamic firewall and BGP route updates. Thank you for your attention, and I am now happy to answer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6400800"/>
            <a:ext cx="10698480" cy="0"/>
          </a:xfrm>
          <a:prstGeom prst="line">
            <a:avLst/>
          </a:prstGeom>
          <a:noFill/>
          <a:ln w="12700">
            <a:solidFill>
              <a:srgbClr val="E2E8F0"/>
            </a:solidFill>
            <a:prstDash val="solid"/>
          </a:ln>
        </p:spPr>
      </p:sp>
      <p:sp>
        <p:nvSpPr>
          <p:cNvPr id="3" name="Text 1"/>
          <p:cNvSpPr/>
          <p:nvPr/>
        </p:nvSpPr>
        <p:spPr>
          <a:xfrm>
            <a:off x="731520" y="6446520"/>
            <a:ext cx="8229600" cy="274320"/>
          </a:xfrm>
          <a:prstGeom prst="rect">
            <a:avLst/>
          </a:prstGeom>
          <a:noFill/>
          <a:ln/>
        </p:spPr>
        <p:txBody>
          <a:bodyPr wrap="square" rtlCol="0" anchor="ctr"/>
          <a:lstStyle/>
          <a:p>
            <a:pPr indent="0" marL="0">
              <a:buNone/>
            </a:pPr>
            <a:r>
              <a:rPr lang="en-US" sz="900" dirty="0">
                <a:solidFill>
                  <a:srgbClr val="64748B"/>
                </a:solidFill>
              </a:rPr>
              <a:t>Intelligent Network Intrusion Detection System (AI-NIDS) | Academic Project Presentation</a:t>
            </a:r>
            <a:endParaRPr lang="en-US" sz="900" dirty="0"/>
          </a:p>
        </p:txBody>
      </p:sp>
      <p:sp>
        <p:nvSpPr>
          <p:cNvPr id="4" name="Shape 2"/>
          <p:cNvSpPr/>
          <p:nvPr/>
        </p:nvSpPr>
        <p:spPr>
          <a:xfrm>
            <a:off x="731520" y="1371600"/>
            <a:ext cx="10698480" cy="4572000"/>
          </a:xfrm>
          <a:prstGeom prst="roundRect">
            <a:avLst>
              <a:gd name="adj" fmla="val 1000"/>
            </a:avLst>
          </a:prstGeom>
          <a:solidFill>
            <a:srgbClr val="FFFFFF"/>
          </a:solidFill>
          <a:ln w="25400">
            <a:solidFill>
              <a:srgbClr val="E2E8F0"/>
            </a:solidFill>
            <a:prstDash val="solid"/>
          </a:ln>
        </p:spPr>
      </p:sp>
      <p:sp>
        <p:nvSpPr>
          <p:cNvPr id="5" name="Text 3"/>
          <p:cNvSpPr/>
          <p:nvPr/>
        </p:nvSpPr>
        <p:spPr>
          <a:xfrm>
            <a:off x="1097280" y="1737360"/>
            <a:ext cx="9144000" cy="365760"/>
          </a:xfrm>
          <a:prstGeom prst="rect">
            <a:avLst/>
          </a:prstGeom>
          <a:noFill/>
          <a:ln/>
        </p:spPr>
        <p:txBody>
          <a:bodyPr wrap="square" rtlCol="0" anchor="ctr"/>
          <a:lstStyle/>
          <a:p>
            <a:pPr indent="0" marL="0">
              <a:buNone/>
            </a:pPr>
            <a:r>
              <a:rPr lang="en-US" sz="1200" b="1" dirty="0">
                <a:solidFill>
                  <a:srgbClr val="0284C7"/>
                </a:solidFill>
              </a:rPr>
              <a:t>CYBERSECURITY &amp; ARTIFICIAL INTELLIGENCE</a:t>
            </a:r>
            <a:endParaRPr lang="en-US" sz="1200" dirty="0"/>
          </a:p>
        </p:txBody>
      </p:sp>
      <p:sp>
        <p:nvSpPr>
          <p:cNvPr id="6" name="Text 4"/>
          <p:cNvSpPr/>
          <p:nvPr/>
        </p:nvSpPr>
        <p:spPr>
          <a:xfrm>
            <a:off x="1097280" y="2194560"/>
            <a:ext cx="9601200" cy="1371600"/>
          </a:xfrm>
          <a:prstGeom prst="rect">
            <a:avLst/>
          </a:prstGeom>
          <a:noFill/>
          <a:ln/>
        </p:spPr>
        <p:txBody>
          <a:bodyPr wrap="square" rtlCol="0" anchor="ctr"/>
          <a:lstStyle/>
          <a:p>
            <a:pPr indent="0" marL="0">
              <a:lnSpc>
                <a:spcPts val="3800"/>
              </a:lnSpc>
              <a:buNone/>
            </a:pPr>
            <a:r>
              <a:rPr lang="en-US" sz="3200" b="1" dirty="0">
                <a:solidFill>
                  <a:srgbClr val="0F172A"/>
                </a:solidFill>
              </a:rPr>
              <a:t>Intelligent Network Intrusion</a:t>
            </a:r>
            <a:endParaRPr lang="en-US" sz="3200" dirty="0"/>
          </a:p>
          <a:p>
            <a:pPr indent="0" marL="0">
              <a:lnSpc>
                <a:spcPts val="3800"/>
              </a:lnSpc>
              <a:buNone/>
            </a:pPr>
            <a:r>
              <a:rPr lang="en-US" sz="3200" b="1" dirty="0">
                <a:solidFill>
                  <a:srgbClr val="0F172A"/>
                </a:solidFill>
              </a:rPr>
              <a:t>Detection System (AI-NIDS)</a:t>
            </a:r>
            <a:endParaRPr lang="en-US" sz="3200" dirty="0"/>
          </a:p>
        </p:txBody>
      </p:sp>
      <p:sp>
        <p:nvSpPr>
          <p:cNvPr id="7" name="Text 5"/>
          <p:cNvSpPr/>
          <p:nvPr/>
        </p:nvSpPr>
        <p:spPr>
          <a:xfrm>
            <a:off x="1097280" y="3749040"/>
            <a:ext cx="9601200" cy="548640"/>
          </a:xfrm>
          <a:prstGeom prst="rect">
            <a:avLst/>
          </a:prstGeom>
          <a:noFill/>
          <a:ln/>
        </p:spPr>
        <p:txBody>
          <a:bodyPr wrap="square" rtlCol="0" anchor="ctr"/>
          <a:lstStyle/>
          <a:p>
            <a:pPr indent="0" marL="0">
              <a:buNone/>
            </a:pPr>
            <a:r>
              <a:rPr lang="en-US" sz="1500" i="1" dirty="0">
                <a:solidFill>
                  <a:srgbClr val="334155"/>
                </a:solidFill>
              </a:rPr>
              <a:t>A Hybrid Machine Learning Architecture for Real-Time Threat Detection &amp; Automated SOC Operations</a:t>
            </a:r>
            <a:endParaRPr lang="en-US" sz="1500" dirty="0"/>
          </a:p>
        </p:txBody>
      </p:sp>
      <p:sp>
        <p:nvSpPr>
          <p:cNvPr id="8" name="Shape 6"/>
          <p:cNvSpPr/>
          <p:nvPr/>
        </p:nvSpPr>
        <p:spPr>
          <a:xfrm>
            <a:off x="1097280" y="4754880"/>
            <a:ext cx="1417320" cy="411480"/>
          </a:xfrm>
          <a:prstGeom prst="roundRect">
            <a:avLst>
              <a:gd name="adj" fmla="val 44444"/>
            </a:avLst>
          </a:prstGeom>
          <a:solidFill>
            <a:srgbClr val="F1F5F9"/>
          </a:solidFill>
          <a:ln w="12700">
            <a:solidFill>
              <a:srgbClr val="CBD5E1"/>
            </a:solidFill>
            <a:prstDash val="solid"/>
          </a:ln>
        </p:spPr>
      </p:sp>
      <p:sp>
        <p:nvSpPr>
          <p:cNvPr id="9" name="Text 7"/>
          <p:cNvSpPr/>
          <p:nvPr/>
        </p:nvSpPr>
        <p:spPr>
          <a:xfrm>
            <a:off x="1097280" y="4754880"/>
            <a:ext cx="1417320" cy="411480"/>
          </a:xfrm>
          <a:prstGeom prst="rect">
            <a:avLst/>
          </a:prstGeom>
          <a:noFill/>
          <a:ln/>
        </p:spPr>
        <p:txBody>
          <a:bodyPr wrap="square" rtlCol="0" anchor="ctr"/>
          <a:lstStyle/>
          <a:p>
            <a:pPr algn="ctr" indent="0" marL="0">
              <a:buNone/>
            </a:pPr>
            <a:r>
              <a:rPr lang="en-US" sz="1000" b="1" dirty="0">
                <a:solidFill>
                  <a:srgbClr val="0F172A"/>
                </a:solidFill>
              </a:rPr>
              <a:t>React 19</a:t>
            </a:r>
            <a:endParaRPr lang="en-US" sz="1000" dirty="0"/>
          </a:p>
        </p:txBody>
      </p:sp>
      <p:sp>
        <p:nvSpPr>
          <p:cNvPr id="10" name="Shape 8"/>
          <p:cNvSpPr/>
          <p:nvPr/>
        </p:nvSpPr>
        <p:spPr>
          <a:xfrm>
            <a:off x="2697480" y="4754880"/>
            <a:ext cx="1417320" cy="411480"/>
          </a:xfrm>
          <a:prstGeom prst="roundRect">
            <a:avLst>
              <a:gd name="adj" fmla="val 44444"/>
            </a:avLst>
          </a:prstGeom>
          <a:solidFill>
            <a:srgbClr val="F1F5F9"/>
          </a:solidFill>
          <a:ln w="12700">
            <a:solidFill>
              <a:srgbClr val="CBD5E1"/>
            </a:solidFill>
            <a:prstDash val="solid"/>
          </a:ln>
        </p:spPr>
      </p:sp>
      <p:sp>
        <p:nvSpPr>
          <p:cNvPr id="11" name="Text 9"/>
          <p:cNvSpPr/>
          <p:nvPr/>
        </p:nvSpPr>
        <p:spPr>
          <a:xfrm>
            <a:off x="2697480" y="4754880"/>
            <a:ext cx="1417320" cy="411480"/>
          </a:xfrm>
          <a:prstGeom prst="rect">
            <a:avLst/>
          </a:prstGeom>
          <a:noFill/>
          <a:ln/>
        </p:spPr>
        <p:txBody>
          <a:bodyPr wrap="square" rtlCol="0" anchor="ctr"/>
          <a:lstStyle/>
          <a:p>
            <a:pPr algn="ctr" indent="0" marL="0">
              <a:buNone/>
            </a:pPr>
            <a:r>
              <a:rPr lang="en-US" sz="1000" b="1" dirty="0">
                <a:solidFill>
                  <a:srgbClr val="0F172A"/>
                </a:solidFill>
              </a:rPr>
              <a:t>FastAPI</a:t>
            </a:r>
            <a:endParaRPr lang="en-US" sz="1000" dirty="0"/>
          </a:p>
        </p:txBody>
      </p:sp>
      <p:sp>
        <p:nvSpPr>
          <p:cNvPr id="12" name="Shape 10"/>
          <p:cNvSpPr/>
          <p:nvPr/>
        </p:nvSpPr>
        <p:spPr>
          <a:xfrm>
            <a:off x="4297680" y="4754880"/>
            <a:ext cx="1417320" cy="411480"/>
          </a:xfrm>
          <a:prstGeom prst="roundRect">
            <a:avLst>
              <a:gd name="adj" fmla="val 44444"/>
            </a:avLst>
          </a:prstGeom>
          <a:solidFill>
            <a:srgbClr val="F1F5F9"/>
          </a:solidFill>
          <a:ln w="12700">
            <a:solidFill>
              <a:srgbClr val="CBD5E1"/>
            </a:solidFill>
            <a:prstDash val="solid"/>
          </a:ln>
        </p:spPr>
      </p:sp>
      <p:sp>
        <p:nvSpPr>
          <p:cNvPr id="13" name="Text 11"/>
          <p:cNvSpPr/>
          <p:nvPr/>
        </p:nvSpPr>
        <p:spPr>
          <a:xfrm>
            <a:off x="4297680" y="4754880"/>
            <a:ext cx="1417320" cy="411480"/>
          </a:xfrm>
          <a:prstGeom prst="rect">
            <a:avLst/>
          </a:prstGeom>
          <a:noFill/>
          <a:ln/>
        </p:spPr>
        <p:txBody>
          <a:bodyPr wrap="square" rtlCol="0" anchor="ctr"/>
          <a:lstStyle/>
          <a:p>
            <a:pPr algn="ctr" indent="0" marL="0">
              <a:buNone/>
            </a:pPr>
            <a:r>
              <a:rPr lang="en-US" sz="1000" b="1" dirty="0">
                <a:solidFill>
                  <a:srgbClr val="0F172A"/>
                </a:solidFill>
              </a:rPr>
              <a:t>Random Forest</a:t>
            </a:r>
            <a:endParaRPr lang="en-US" sz="1000" dirty="0"/>
          </a:p>
        </p:txBody>
      </p:sp>
      <p:sp>
        <p:nvSpPr>
          <p:cNvPr id="14" name="Shape 12"/>
          <p:cNvSpPr/>
          <p:nvPr/>
        </p:nvSpPr>
        <p:spPr>
          <a:xfrm>
            <a:off x="5897880" y="4754880"/>
            <a:ext cx="1417320" cy="411480"/>
          </a:xfrm>
          <a:prstGeom prst="roundRect">
            <a:avLst>
              <a:gd name="adj" fmla="val 44444"/>
            </a:avLst>
          </a:prstGeom>
          <a:solidFill>
            <a:srgbClr val="F1F5F9"/>
          </a:solidFill>
          <a:ln w="12700">
            <a:solidFill>
              <a:srgbClr val="CBD5E1"/>
            </a:solidFill>
            <a:prstDash val="solid"/>
          </a:ln>
        </p:spPr>
      </p:sp>
      <p:sp>
        <p:nvSpPr>
          <p:cNvPr id="15" name="Text 13"/>
          <p:cNvSpPr/>
          <p:nvPr/>
        </p:nvSpPr>
        <p:spPr>
          <a:xfrm>
            <a:off x="5897880" y="4754880"/>
            <a:ext cx="1417320" cy="411480"/>
          </a:xfrm>
          <a:prstGeom prst="rect">
            <a:avLst/>
          </a:prstGeom>
          <a:noFill/>
          <a:ln/>
        </p:spPr>
        <p:txBody>
          <a:bodyPr wrap="square" rtlCol="0" anchor="ctr"/>
          <a:lstStyle/>
          <a:p>
            <a:pPr algn="ctr" indent="0" marL="0">
              <a:buNone/>
            </a:pPr>
            <a:r>
              <a:rPr lang="en-US" sz="1000" b="1" dirty="0">
                <a:solidFill>
                  <a:srgbClr val="0F172A"/>
                </a:solidFill>
              </a:rPr>
              <a:t>Shannon Entropy</a:t>
            </a:r>
            <a:endParaRPr lang="en-US" sz="1000" dirty="0"/>
          </a:p>
        </p:txBody>
      </p:sp>
      <p:sp>
        <p:nvSpPr>
          <p:cNvPr id="16" name="Shape 14"/>
          <p:cNvSpPr/>
          <p:nvPr/>
        </p:nvSpPr>
        <p:spPr>
          <a:xfrm>
            <a:off x="7498080" y="4754880"/>
            <a:ext cx="1417320" cy="411480"/>
          </a:xfrm>
          <a:prstGeom prst="roundRect">
            <a:avLst>
              <a:gd name="adj" fmla="val 44444"/>
            </a:avLst>
          </a:prstGeom>
          <a:solidFill>
            <a:srgbClr val="F1F5F9"/>
          </a:solidFill>
          <a:ln w="12700">
            <a:solidFill>
              <a:srgbClr val="CBD5E1"/>
            </a:solidFill>
            <a:prstDash val="solid"/>
          </a:ln>
        </p:spPr>
      </p:sp>
      <p:sp>
        <p:nvSpPr>
          <p:cNvPr id="17" name="Text 15"/>
          <p:cNvSpPr/>
          <p:nvPr/>
        </p:nvSpPr>
        <p:spPr>
          <a:xfrm>
            <a:off x="7498080" y="4754880"/>
            <a:ext cx="1417320" cy="411480"/>
          </a:xfrm>
          <a:prstGeom prst="rect">
            <a:avLst/>
          </a:prstGeom>
          <a:noFill/>
          <a:ln/>
        </p:spPr>
        <p:txBody>
          <a:bodyPr wrap="square" rtlCol="0" anchor="ctr"/>
          <a:lstStyle/>
          <a:p>
            <a:pPr algn="ctr" indent="0" marL="0">
              <a:buNone/>
            </a:pPr>
            <a:r>
              <a:rPr lang="en-US" sz="1000" b="1" dirty="0">
                <a:solidFill>
                  <a:srgbClr val="0F172A"/>
                </a:solidFill>
              </a:rPr>
              <a:t>AWS Lambda</a:t>
            </a:r>
            <a:endParaRPr lang="en-US" sz="1000" dirty="0"/>
          </a:p>
        </p:txBody>
      </p:sp>
      <p:sp>
        <p:nvSpPr>
          <p:cNvPr id="18" name="Shape 16"/>
          <p:cNvSpPr/>
          <p:nvPr/>
        </p:nvSpPr>
        <p:spPr>
          <a:xfrm>
            <a:off x="9098280" y="4754880"/>
            <a:ext cx="1417320" cy="411480"/>
          </a:xfrm>
          <a:prstGeom prst="roundRect">
            <a:avLst>
              <a:gd name="adj" fmla="val 44444"/>
            </a:avLst>
          </a:prstGeom>
          <a:solidFill>
            <a:srgbClr val="F1F5F9"/>
          </a:solidFill>
          <a:ln w="12700">
            <a:solidFill>
              <a:srgbClr val="CBD5E1"/>
            </a:solidFill>
            <a:prstDash val="solid"/>
          </a:ln>
        </p:spPr>
      </p:sp>
      <p:sp>
        <p:nvSpPr>
          <p:cNvPr id="19" name="Text 17"/>
          <p:cNvSpPr/>
          <p:nvPr/>
        </p:nvSpPr>
        <p:spPr>
          <a:xfrm>
            <a:off x="9098280" y="4754880"/>
            <a:ext cx="1417320" cy="411480"/>
          </a:xfrm>
          <a:prstGeom prst="rect">
            <a:avLst/>
          </a:prstGeom>
          <a:noFill/>
          <a:ln/>
        </p:spPr>
        <p:txBody>
          <a:bodyPr wrap="square" rtlCol="0" anchor="ctr"/>
          <a:lstStyle/>
          <a:p>
            <a:pPr algn="ctr" indent="0" marL="0">
              <a:buNone/>
            </a:pPr>
            <a:r>
              <a:rPr lang="en-US" sz="1000" b="1" dirty="0">
                <a:solidFill>
                  <a:srgbClr val="0F172A"/>
                </a:solidFill>
              </a:rPr>
              <a:t>Docker</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6400800"/>
            <a:ext cx="10698480" cy="0"/>
          </a:xfrm>
          <a:prstGeom prst="line">
            <a:avLst/>
          </a:prstGeom>
          <a:noFill/>
          <a:ln w="12700">
            <a:solidFill>
              <a:srgbClr val="E2E8F0"/>
            </a:solidFill>
            <a:prstDash val="solid"/>
          </a:ln>
        </p:spPr>
      </p:sp>
      <p:sp>
        <p:nvSpPr>
          <p:cNvPr id="3" name="Text 1"/>
          <p:cNvSpPr/>
          <p:nvPr/>
        </p:nvSpPr>
        <p:spPr>
          <a:xfrm>
            <a:off x="731520" y="6446520"/>
            <a:ext cx="8229600" cy="274320"/>
          </a:xfrm>
          <a:prstGeom prst="rect">
            <a:avLst/>
          </a:prstGeom>
          <a:noFill/>
          <a:ln/>
        </p:spPr>
        <p:txBody>
          <a:bodyPr wrap="square" rtlCol="0" anchor="ctr"/>
          <a:lstStyle/>
          <a:p>
            <a:pPr indent="0" marL="0">
              <a:buNone/>
            </a:pPr>
            <a:r>
              <a:rPr lang="en-US" sz="900" dirty="0">
                <a:solidFill>
                  <a:srgbClr val="64748B"/>
                </a:solidFill>
              </a:rPr>
              <a:t>Intelligent Network Intrusion Detection System (AI-NIDS) | Academic Project Presentation</a:t>
            </a:r>
            <a:endParaRPr lang="en-US" sz="900" dirty="0"/>
          </a:p>
        </p:txBody>
      </p:sp>
      <p:sp>
        <p:nvSpPr>
          <p:cNvPr id="4" name="Text 2"/>
          <p:cNvSpPr/>
          <p:nvPr/>
        </p:nvSpPr>
        <p:spPr>
          <a:xfrm>
            <a:off x="731520" y="320040"/>
            <a:ext cx="10515600" cy="274320"/>
          </a:xfrm>
          <a:prstGeom prst="rect">
            <a:avLst/>
          </a:prstGeom>
          <a:noFill/>
          <a:ln/>
        </p:spPr>
        <p:txBody>
          <a:bodyPr wrap="square" rtlCol="0" anchor="ctr"/>
          <a:lstStyle/>
          <a:p>
            <a:pPr indent="0" marL="0">
              <a:buNone/>
            </a:pPr>
            <a:r>
              <a:rPr lang="en-US" sz="1000" b="1" dirty="0">
                <a:solidFill>
                  <a:srgbClr val="0284C7"/>
                </a:solidFill>
              </a:rPr>
              <a:t>AI-NIDS PROJECT PRESENTATION</a:t>
            </a:r>
            <a:endParaRPr lang="en-US" sz="1000" dirty="0"/>
          </a:p>
        </p:txBody>
      </p:sp>
      <p:sp>
        <p:nvSpPr>
          <p:cNvPr id="5" name="Text 3"/>
          <p:cNvSpPr/>
          <p:nvPr/>
        </p:nvSpPr>
        <p:spPr>
          <a:xfrm>
            <a:off x="731520" y="548640"/>
            <a:ext cx="10515600" cy="548640"/>
          </a:xfrm>
          <a:prstGeom prst="rect">
            <a:avLst/>
          </a:prstGeom>
          <a:noFill/>
          <a:ln/>
        </p:spPr>
        <p:txBody>
          <a:bodyPr wrap="square" rtlCol="0" anchor="ctr"/>
          <a:lstStyle/>
          <a:p>
            <a:pPr indent="0" marL="0">
              <a:buNone/>
            </a:pPr>
            <a:r>
              <a:rPr lang="en-US" sz="2200" b="1" dirty="0">
                <a:solidFill>
                  <a:srgbClr val="0F172A"/>
                </a:solidFill>
              </a:rPr>
              <a:t>Abstract: Project Overview &amp; Core Findings</a:t>
            </a:r>
            <a:endParaRPr lang="en-US" sz="2200" dirty="0"/>
          </a:p>
        </p:txBody>
      </p:sp>
      <p:sp>
        <p:nvSpPr>
          <p:cNvPr id="6" name="Shape 4"/>
          <p:cNvSpPr/>
          <p:nvPr/>
        </p:nvSpPr>
        <p:spPr>
          <a:xfrm>
            <a:off x="731520" y="1143000"/>
            <a:ext cx="10698480" cy="0"/>
          </a:xfrm>
          <a:prstGeom prst="line">
            <a:avLst/>
          </a:prstGeom>
          <a:noFill/>
          <a:ln w="19050">
            <a:solidFill>
              <a:srgbClr val="E2E8F0"/>
            </a:solidFill>
            <a:prstDash val="solid"/>
          </a:ln>
        </p:spPr>
      </p:sp>
      <p:sp>
        <p:nvSpPr>
          <p:cNvPr id="7" name="Shape 5"/>
          <p:cNvSpPr/>
          <p:nvPr/>
        </p:nvSpPr>
        <p:spPr>
          <a:xfrm>
            <a:off x="731520" y="1463040"/>
            <a:ext cx="3383280" cy="4572000"/>
          </a:xfrm>
          <a:prstGeom prst="roundRect">
            <a:avLst>
              <a:gd name="adj" fmla="val 1351"/>
            </a:avLst>
          </a:prstGeom>
          <a:solidFill>
            <a:srgbClr val="FFFFFF"/>
          </a:solidFill>
          <a:ln w="25400">
            <a:solidFill>
              <a:srgbClr val="DC2626"/>
            </a:solidFill>
            <a:prstDash val="solid"/>
          </a:ln>
        </p:spPr>
      </p:sp>
      <p:sp>
        <p:nvSpPr>
          <p:cNvPr id="8" name="Text 6"/>
          <p:cNvSpPr/>
          <p:nvPr/>
        </p:nvSpPr>
        <p:spPr>
          <a:xfrm>
            <a:off x="1005840" y="1737360"/>
            <a:ext cx="2834640" cy="457200"/>
          </a:xfrm>
          <a:prstGeom prst="rect">
            <a:avLst/>
          </a:prstGeom>
          <a:noFill/>
          <a:ln/>
        </p:spPr>
        <p:txBody>
          <a:bodyPr wrap="square" rtlCol="0" anchor="ctr"/>
          <a:lstStyle/>
          <a:p>
            <a:pPr indent="0" marL="0">
              <a:buNone/>
            </a:pPr>
            <a:r>
              <a:rPr lang="en-US" sz="1500" b="1" dirty="0">
                <a:solidFill>
                  <a:srgbClr val="DC2626"/>
                </a:solidFill>
              </a:rPr>
              <a:t>The Research Challenge</a:t>
            </a:r>
            <a:endParaRPr lang="en-US" sz="1500" dirty="0"/>
          </a:p>
        </p:txBody>
      </p:sp>
      <p:sp>
        <p:nvSpPr>
          <p:cNvPr id="9" name="Text 7"/>
          <p:cNvSpPr/>
          <p:nvPr/>
        </p:nvSpPr>
        <p:spPr>
          <a:xfrm>
            <a:off x="1005840" y="2377440"/>
            <a:ext cx="2834640" cy="3474720"/>
          </a:xfrm>
          <a:prstGeom prst="rect">
            <a:avLst/>
          </a:prstGeom>
          <a:noFill/>
          <a:ln/>
        </p:spPr>
        <p:txBody>
          <a:bodyPr wrap="square" rtlCol="0" anchor="ctr"/>
          <a:lstStyle/>
          <a:p>
            <a:pPr indent="0" marL="0">
              <a:lnSpc>
                <a:spcPts val="1800"/>
              </a:lnSpc>
              <a:buNone/>
            </a:pPr>
            <a:r>
              <a:rPr lang="en-US" sz="1200" dirty="0">
                <a:solidFill>
                  <a:srgbClr val="334155"/>
                </a:solidFill>
              </a:rPr>
              <a:t>•  Proliferation of connected devices expands network attack surfaces.</a:t>
            </a:r>
            <a:endParaRPr lang="en-US" sz="1200" dirty="0"/>
          </a:p>
          <a:p>
            <a:pPr indent="0" marL="0">
              <a:lnSpc>
                <a:spcPts val="1800"/>
              </a:lnSpc>
              <a:buNone/>
            </a:pPr>
            <a:endParaRPr lang="en-US" sz="1200" dirty="0"/>
          </a:p>
          <a:p>
            <a:pPr indent="0" marL="0">
              <a:lnSpc>
                <a:spcPts val="1800"/>
              </a:lnSpc>
              <a:buNone/>
            </a:pPr>
            <a:endParaRPr lang="en-US" sz="1200" dirty="0"/>
          </a:p>
          <a:p>
            <a:pPr indent="0" marL="0">
              <a:lnSpc>
                <a:spcPts val="1800"/>
              </a:lnSpc>
              <a:buNone/>
            </a:pPr>
            <a:r>
              <a:rPr lang="en-US" sz="1200" dirty="0">
                <a:solidFill>
                  <a:srgbClr val="334155"/>
                </a:solidFill>
              </a:rPr>
              <a:t>•  Legacy signature NIDS (Snort, Suricata) fail against novel zero-day attacks.</a:t>
            </a:r>
            <a:endParaRPr lang="en-US" sz="1200" dirty="0"/>
          </a:p>
          <a:p>
            <a:pPr indent="0" marL="0">
              <a:lnSpc>
                <a:spcPts val="1800"/>
              </a:lnSpc>
              <a:buNone/>
            </a:pPr>
            <a:endParaRPr lang="en-US" sz="1200" dirty="0"/>
          </a:p>
          <a:p>
            <a:pPr indent="0" marL="0">
              <a:lnSpc>
                <a:spcPts val="1800"/>
              </a:lnSpc>
              <a:buNone/>
            </a:pPr>
            <a:endParaRPr lang="en-US" sz="1200" dirty="0"/>
          </a:p>
          <a:p>
            <a:pPr indent="0" marL="0">
              <a:lnSpc>
                <a:spcPts val="1800"/>
              </a:lnSpc>
              <a:buNone/>
            </a:pPr>
            <a:r>
              <a:rPr lang="en-US" sz="1200" dirty="0">
                <a:solidFill>
                  <a:srgbClr val="334155"/>
                </a:solidFill>
              </a:rPr>
              <a:t>•  Obfuscated payloads &amp; polymorphic malware bypass traditional firewalls.</a:t>
            </a:r>
            <a:endParaRPr lang="en-US" sz="1200" dirty="0"/>
          </a:p>
        </p:txBody>
      </p:sp>
      <p:sp>
        <p:nvSpPr>
          <p:cNvPr id="10" name="Shape 8"/>
          <p:cNvSpPr/>
          <p:nvPr/>
        </p:nvSpPr>
        <p:spPr>
          <a:xfrm>
            <a:off x="4389120" y="1463040"/>
            <a:ext cx="3383280" cy="4572000"/>
          </a:xfrm>
          <a:prstGeom prst="roundRect">
            <a:avLst>
              <a:gd name="adj" fmla="val 1351"/>
            </a:avLst>
          </a:prstGeom>
          <a:solidFill>
            <a:srgbClr val="FFFFFF"/>
          </a:solidFill>
          <a:ln w="25400">
            <a:solidFill>
              <a:srgbClr val="0F172A"/>
            </a:solidFill>
            <a:prstDash val="solid"/>
          </a:ln>
        </p:spPr>
      </p:sp>
      <p:sp>
        <p:nvSpPr>
          <p:cNvPr id="11" name="Text 9"/>
          <p:cNvSpPr/>
          <p:nvPr/>
        </p:nvSpPr>
        <p:spPr>
          <a:xfrm>
            <a:off x="4663440" y="1737360"/>
            <a:ext cx="2834640" cy="457200"/>
          </a:xfrm>
          <a:prstGeom prst="rect">
            <a:avLst/>
          </a:prstGeom>
          <a:noFill/>
          <a:ln/>
        </p:spPr>
        <p:txBody>
          <a:bodyPr wrap="square" rtlCol="0" anchor="ctr"/>
          <a:lstStyle/>
          <a:p>
            <a:pPr indent="0" marL="0">
              <a:buNone/>
            </a:pPr>
            <a:r>
              <a:rPr lang="en-US" sz="1500" b="1" dirty="0">
                <a:solidFill>
                  <a:srgbClr val="0F172A"/>
                </a:solidFill>
              </a:rPr>
              <a:t>Proposed AI-NIDS Solution</a:t>
            </a:r>
            <a:endParaRPr lang="en-US" sz="1500" dirty="0"/>
          </a:p>
        </p:txBody>
      </p:sp>
      <p:sp>
        <p:nvSpPr>
          <p:cNvPr id="12" name="Text 10"/>
          <p:cNvSpPr/>
          <p:nvPr/>
        </p:nvSpPr>
        <p:spPr>
          <a:xfrm>
            <a:off x="4663440" y="2377440"/>
            <a:ext cx="2834640" cy="3474720"/>
          </a:xfrm>
          <a:prstGeom prst="rect">
            <a:avLst/>
          </a:prstGeom>
          <a:noFill/>
          <a:ln/>
        </p:spPr>
        <p:txBody>
          <a:bodyPr wrap="square" rtlCol="0" anchor="ctr"/>
          <a:lstStyle/>
          <a:p>
            <a:pPr indent="0" marL="0">
              <a:lnSpc>
                <a:spcPts val="1800"/>
              </a:lnSpc>
              <a:buNone/>
            </a:pPr>
            <a:r>
              <a:rPr lang="en-US" sz="1200" dirty="0">
                <a:solidFill>
                  <a:srgbClr val="334155"/>
                </a:solidFill>
              </a:rPr>
              <a:t>•  Hybrid Machine Learning Engine combining Supervised &amp; Unsupervised models.</a:t>
            </a:r>
            <a:endParaRPr lang="en-US" sz="1200" dirty="0"/>
          </a:p>
          <a:p>
            <a:pPr indent="0" marL="0">
              <a:lnSpc>
                <a:spcPts val="1800"/>
              </a:lnSpc>
              <a:buNone/>
            </a:pPr>
            <a:endParaRPr lang="en-US" sz="1200" dirty="0"/>
          </a:p>
          <a:p>
            <a:pPr indent="0" marL="0">
              <a:lnSpc>
                <a:spcPts val="1800"/>
              </a:lnSpc>
              <a:buNone/>
            </a:pPr>
            <a:endParaRPr lang="en-US" sz="1200" dirty="0"/>
          </a:p>
          <a:p>
            <a:pPr indent="0" marL="0">
              <a:lnSpc>
                <a:spcPts val="1800"/>
              </a:lnSpc>
              <a:buNone/>
            </a:pPr>
            <a:r>
              <a:rPr lang="en-US" sz="1200" dirty="0">
                <a:solidFill>
                  <a:srgbClr val="334155"/>
                </a:solidFill>
              </a:rPr>
              <a:t>•  Random Forest Classifier (known vectors) + Shannon Entropy Engine (zero-days).</a:t>
            </a:r>
            <a:endParaRPr lang="en-US" sz="1200" dirty="0"/>
          </a:p>
          <a:p>
            <a:pPr indent="0" marL="0">
              <a:lnSpc>
                <a:spcPts val="1800"/>
              </a:lnSpc>
              <a:buNone/>
            </a:pPr>
            <a:endParaRPr lang="en-US" sz="1200" dirty="0"/>
          </a:p>
          <a:p>
            <a:pPr indent="0" marL="0">
              <a:lnSpc>
                <a:spcPts val="1800"/>
              </a:lnSpc>
              <a:buNone/>
            </a:pPr>
            <a:endParaRPr lang="en-US" sz="1200" dirty="0"/>
          </a:p>
          <a:p>
            <a:pPr indent="0" marL="0">
              <a:lnSpc>
                <a:spcPts val="1800"/>
              </a:lnSpc>
              <a:buNone/>
            </a:pPr>
            <a:r>
              <a:rPr lang="en-US" sz="1200" dirty="0">
                <a:solidFill>
                  <a:srgbClr val="334155"/>
                </a:solidFill>
              </a:rPr>
              <a:t>•  Full-Stack SOC Dashboard built with React 19, Vite, and Recharts.</a:t>
            </a:r>
            <a:endParaRPr lang="en-US" sz="1200" dirty="0"/>
          </a:p>
        </p:txBody>
      </p:sp>
      <p:sp>
        <p:nvSpPr>
          <p:cNvPr id="13" name="Shape 11"/>
          <p:cNvSpPr/>
          <p:nvPr/>
        </p:nvSpPr>
        <p:spPr>
          <a:xfrm>
            <a:off x="8046720" y="1463040"/>
            <a:ext cx="3383280" cy="4572000"/>
          </a:xfrm>
          <a:prstGeom prst="roundRect">
            <a:avLst>
              <a:gd name="adj" fmla="val 1351"/>
            </a:avLst>
          </a:prstGeom>
          <a:solidFill>
            <a:srgbClr val="FFFFFF"/>
          </a:solidFill>
          <a:ln w="25400">
            <a:solidFill>
              <a:srgbClr val="0284C7"/>
            </a:solidFill>
            <a:prstDash val="solid"/>
          </a:ln>
        </p:spPr>
      </p:sp>
      <p:sp>
        <p:nvSpPr>
          <p:cNvPr id="14" name="Text 12"/>
          <p:cNvSpPr/>
          <p:nvPr/>
        </p:nvSpPr>
        <p:spPr>
          <a:xfrm>
            <a:off x="8321040" y="1737360"/>
            <a:ext cx="2834640" cy="457200"/>
          </a:xfrm>
          <a:prstGeom prst="rect">
            <a:avLst/>
          </a:prstGeom>
          <a:noFill/>
          <a:ln/>
        </p:spPr>
        <p:txBody>
          <a:bodyPr wrap="square" rtlCol="0" anchor="ctr"/>
          <a:lstStyle/>
          <a:p>
            <a:pPr indent="0" marL="0">
              <a:buNone/>
            </a:pPr>
            <a:r>
              <a:rPr lang="en-US" sz="1500" b="1" dirty="0">
                <a:solidFill>
                  <a:srgbClr val="0284C7"/>
                </a:solidFill>
              </a:rPr>
              <a:t>Key Results &amp; Impact</a:t>
            </a:r>
            <a:endParaRPr lang="en-US" sz="1500" dirty="0"/>
          </a:p>
        </p:txBody>
      </p:sp>
      <p:sp>
        <p:nvSpPr>
          <p:cNvPr id="15" name="Text 13"/>
          <p:cNvSpPr/>
          <p:nvPr/>
        </p:nvSpPr>
        <p:spPr>
          <a:xfrm>
            <a:off x="8321040" y="2377440"/>
            <a:ext cx="2834640" cy="3474720"/>
          </a:xfrm>
          <a:prstGeom prst="rect">
            <a:avLst/>
          </a:prstGeom>
          <a:noFill/>
          <a:ln/>
        </p:spPr>
        <p:txBody>
          <a:bodyPr wrap="square" rtlCol="0" anchor="ctr"/>
          <a:lstStyle/>
          <a:p>
            <a:pPr indent="0" marL="0">
              <a:lnSpc>
                <a:spcPts val="1800"/>
              </a:lnSpc>
              <a:buNone/>
            </a:pPr>
            <a:r>
              <a:rPr lang="en-US" sz="1200" dirty="0">
                <a:solidFill>
                  <a:srgbClr val="334155"/>
                </a:solidFill>
              </a:rPr>
              <a:t>•  Achieved &gt;96.5% overall multi-class classification accuracy.</a:t>
            </a:r>
            <a:endParaRPr lang="en-US" sz="1200" dirty="0"/>
          </a:p>
          <a:p>
            <a:pPr indent="0" marL="0">
              <a:lnSpc>
                <a:spcPts val="1800"/>
              </a:lnSpc>
              <a:buNone/>
            </a:pPr>
            <a:endParaRPr lang="en-US" sz="1200" dirty="0"/>
          </a:p>
          <a:p>
            <a:pPr indent="0" marL="0">
              <a:lnSpc>
                <a:spcPts val="1800"/>
              </a:lnSpc>
              <a:buNone/>
            </a:pPr>
            <a:endParaRPr lang="en-US" sz="1200" dirty="0"/>
          </a:p>
          <a:p>
            <a:pPr indent="0" marL="0">
              <a:lnSpc>
                <a:spcPts val="1800"/>
              </a:lnSpc>
              <a:buNone/>
            </a:pPr>
            <a:r>
              <a:rPr lang="en-US" sz="1200" dirty="0">
                <a:solidFill>
                  <a:srgbClr val="334155"/>
                </a:solidFill>
              </a:rPr>
              <a:t>•  Sub-3.2ms latency per flow vector ensures real-time packet inspection.</a:t>
            </a:r>
            <a:endParaRPr lang="en-US" sz="1200" dirty="0"/>
          </a:p>
          <a:p>
            <a:pPr indent="0" marL="0">
              <a:lnSpc>
                <a:spcPts val="1800"/>
              </a:lnSpc>
              <a:buNone/>
            </a:pPr>
            <a:endParaRPr lang="en-US" sz="1200" dirty="0"/>
          </a:p>
          <a:p>
            <a:pPr indent="0" marL="0">
              <a:lnSpc>
                <a:spcPts val="1800"/>
              </a:lnSpc>
              <a:buNone/>
            </a:pPr>
            <a:endParaRPr lang="en-US" sz="1200" dirty="0"/>
          </a:p>
          <a:p>
            <a:pPr indent="0" marL="0">
              <a:lnSpc>
                <a:spcPts val="1800"/>
              </a:lnSpc>
              <a:buNone/>
            </a:pPr>
            <a:r>
              <a:rPr lang="en-US" sz="1200" dirty="0">
                <a:solidFill>
                  <a:srgbClr val="334155"/>
                </a:solidFill>
              </a:rPr>
              <a:t>•  Analyst feedback loop enables 1-click dynamic model retraining.</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6400800"/>
            <a:ext cx="10698480" cy="0"/>
          </a:xfrm>
          <a:prstGeom prst="line">
            <a:avLst/>
          </a:prstGeom>
          <a:noFill/>
          <a:ln w="12700">
            <a:solidFill>
              <a:srgbClr val="E2E8F0"/>
            </a:solidFill>
            <a:prstDash val="solid"/>
          </a:ln>
        </p:spPr>
      </p:sp>
      <p:sp>
        <p:nvSpPr>
          <p:cNvPr id="3" name="Text 1"/>
          <p:cNvSpPr/>
          <p:nvPr/>
        </p:nvSpPr>
        <p:spPr>
          <a:xfrm>
            <a:off x="731520" y="6446520"/>
            <a:ext cx="8229600" cy="274320"/>
          </a:xfrm>
          <a:prstGeom prst="rect">
            <a:avLst/>
          </a:prstGeom>
          <a:noFill/>
          <a:ln/>
        </p:spPr>
        <p:txBody>
          <a:bodyPr wrap="square" rtlCol="0" anchor="ctr"/>
          <a:lstStyle/>
          <a:p>
            <a:pPr indent="0" marL="0">
              <a:buNone/>
            </a:pPr>
            <a:r>
              <a:rPr lang="en-US" sz="900" dirty="0">
                <a:solidFill>
                  <a:srgbClr val="64748B"/>
                </a:solidFill>
              </a:rPr>
              <a:t>Intelligent Network Intrusion Detection System (AI-NIDS) | Academic Project Presentation</a:t>
            </a:r>
            <a:endParaRPr lang="en-US" sz="900" dirty="0"/>
          </a:p>
        </p:txBody>
      </p:sp>
      <p:sp>
        <p:nvSpPr>
          <p:cNvPr id="4" name="Text 2"/>
          <p:cNvSpPr/>
          <p:nvPr/>
        </p:nvSpPr>
        <p:spPr>
          <a:xfrm>
            <a:off x="731520" y="320040"/>
            <a:ext cx="10515600" cy="274320"/>
          </a:xfrm>
          <a:prstGeom prst="rect">
            <a:avLst/>
          </a:prstGeom>
          <a:noFill/>
          <a:ln/>
        </p:spPr>
        <p:txBody>
          <a:bodyPr wrap="square" rtlCol="0" anchor="ctr"/>
          <a:lstStyle/>
          <a:p>
            <a:pPr indent="0" marL="0">
              <a:buNone/>
            </a:pPr>
            <a:r>
              <a:rPr lang="en-US" sz="1000" b="1" dirty="0">
                <a:solidFill>
                  <a:srgbClr val="0284C7"/>
                </a:solidFill>
              </a:rPr>
              <a:t>AI-NIDS PROJECT PRESENTATION</a:t>
            </a:r>
            <a:endParaRPr lang="en-US" sz="1000" dirty="0"/>
          </a:p>
        </p:txBody>
      </p:sp>
      <p:sp>
        <p:nvSpPr>
          <p:cNvPr id="5" name="Text 3"/>
          <p:cNvSpPr/>
          <p:nvPr/>
        </p:nvSpPr>
        <p:spPr>
          <a:xfrm>
            <a:off x="731520" y="548640"/>
            <a:ext cx="10515600" cy="548640"/>
          </a:xfrm>
          <a:prstGeom prst="rect">
            <a:avLst/>
          </a:prstGeom>
          <a:noFill/>
          <a:ln/>
        </p:spPr>
        <p:txBody>
          <a:bodyPr wrap="square" rtlCol="0" anchor="ctr"/>
          <a:lstStyle/>
          <a:p>
            <a:pPr indent="0" marL="0">
              <a:buNone/>
            </a:pPr>
            <a:r>
              <a:rPr lang="en-US" sz="2200" b="1" dirty="0">
                <a:solidFill>
                  <a:srgbClr val="0F172A"/>
                </a:solidFill>
              </a:rPr>
              <a:t>Introduction &amp; Core Project Objectives</a:t>
            </a:r>
            <a:endParaRPr lang="en-US" sz="2200" dirty="0"/>
          </a:p>
        </p:txBody>
      </p:sp>
      <p:sp>
        <p:nvSpPr>
          <p:cNvPr id="6" name="Shape 4"/>
          <p:cNvSpPr/>
          <p:nvPr/>
        </p:nvSpPr>
        <p:spPr>
          <a:xfrm>
            <a:off x="731520" y="1143000"/>
            <a:ext cx="10698480" cy="0"/>
          </a:xfrm>
          <a:prstGeom prst="line">
            <a:avLst/>
          </a:prstGeom>
          <a:noFill/>
          <a:ln w="19050">
            <a:solidFill>
              <a:srgbClr val="E2E8F0"/>
            </a:solidFill>
            <a:prstDash val="solid"/>
          </a:ln>
        </p:spPr>
      </p:sp>
      <p:sp>
        <p:nvSpPr>
          <p:cNvPr id="7" name="Shape 5"/>
          <p:cNvSpPr/>
          <p:nvPr/>
        </p:nvSpPr>
        <p:spPr>
          <a:xfrm>
            <a:off x="731520" y="1463040"/>
            <a:ext cx="5120640" cy="2103120"/>
          </a:xfrm>
          <a:prstGeom prst="roundRect">
            <a:avLst>
              <a:gd name="adj" fmla="val 2174"/>
            </a:avLst>
          </a:prstGeom>
          <a:solidFill>
            <a:srgbClr val="FFFFFF"/>
          </a:solidFill>
          <a:ln w="19050">
            <a:solidFill>
              <a:srgbClr val="E2E8F0"/>
            </a:solidFill>
            <a:prstDash val="solid"/>
          </a:ln>
        </p:spPr>
      </p:sp>
      <p:sp>
        <p:nvSpPr>
          <p:cNvPr id="8" name="Text 6"/>
          <p:cNvSpPr/>
          <p:nvPr/>
        </p:nvSpPr>
        <p:spPr>
          <a:xfrm>
            <a:off x="1005840" y="1645920"/>
            <a:ext cx="914400" cy="457200"/>
          </a:xfrm>
          <a:prstGeom prst="rect">
            <a:avLst/>
          </a:prstGeom>
          <a:noFill/>
          <a:ln/>
        </p:spPr>
        <p:txBody>
          <a:bodyPr wrap="square" rtlCol="0" anchor="ctr"/>
          <a:lstStyle/>
          <a:p>
            <a:pPr indent="0" marL="0">
              <a:buNone/>
            </a:pPr>
            <a:r>
              <a:rPr lang="en-US" sz="2200" b="1" dirty="0">
                <a:solidFill>
                  <a:srgbClr val="0F172A"/>
                </a:solidFill>
              </a:rPr>
              <a:t>01</a:t>
            </a:r>
            <a:endParaRPr lang="en-US" sz="2200" dirty="0"/>
          </a:p>
        </p:txBody>
      </p:sp>
      <p:sp>
        <p:nvSpPr>
          <p:cNvPr id="9" name="Text 7"/>
          <p:cNvSpPr/>
          <p:nvPr/>
        </p:nvSpPr>
        <p:spPr>
          <a:xfrm>
            <a:off x="1828800" y="1645920"/>
            <a:ext cx="3749040" cy="365760"/>
          </a:xfrm>
          <a:prstGeom prst="rect">
            <a:avLst/>
          </a:prstGeom>
          <a:noFill/>
          <a:ln/>
        </p:spPr>
        <p:txBody>
          <a:bodyPr wrap="square" rtlCol="0" anchor="ctr"/>
          <a:lstStyle/>
          <a:p>
            <a:pPr indent="0" marL="0">
              <a:buNone/>
            </a:pPr>
            <a:r>
              <a:rPr lang="en-US" sz="1500" b="1" dirty="0">
                <a:solidFill>
                  <a:srgbClr val="0284C7"/>
                </a:solidFill>
              </a:rPr>
              <a:t>Hybrid Detection Architecture</a:t>
            </a:r>
            <a:endParaRPr lang="en-US" sz="1500" dirty="0"/>
          </a:p>
        </p:txBody>
      </p:sp>
      <p:sp>
        <p:nvSpPr>
          <p:cNvPr id="10" name="Text 8"/>
          <p:cNvSpPr/>
          <p:nvPr/>
        </p:nvSpPr>
        <p:spPr>
          <a:xfrm>
            <a:off x="1828800" y="2103120"/>
            <a:ext cx="3749040" cy="1280160"/>
          </a:xfrm>
          <a:prstGeom prst="rect">
            <a:avLst/>
          </a:prstGeom>
          <a:noFill/>
          <a:ln/>
        </p:spPr>
        <p:txBody>
          <a:bodyPr wrap="square" rtlCol="0" anchor="ctr"/>
          <a:lstStyle/>
          <a:p>
            <a:pPr indent="0" marL="0">
              <a:lnSpc>
                <a:spcPts val="1800"/>
              </a:lnSpc>
              <a:buNone/>
            </a:pPr>
            <a:r>
              <a:rPr lang="en-US" sz="1200" dirty="0">
                <a:solidFill>
                  <a:srgbClr val="334155"/>
                </a:solidFill>
              </a:rPr>
              <a:t>Combine Supervised Random Forest Classifier (&gt;95% target accuracy) with Unsupervised Shannon Entropy heuristic rules for zero-day threat detection.</a:t>
            </a:r>
            <a:endParaRPr lang="en-US" sz="1200" dirty="0"/>
          </a:p>
        </p:txBody>
      </p:sp>
      <p:sp>
        <p:nvSpPr>
          <p:cNvPr id="11" name="Shape 9"/>
          <p:cNvSpPr/>
          <p:nvPr/>
        </p:nvSpPr>
        <p:spPr>
          <a:xfrm>
            <a:off x="6217920" y="1463040"/>
            <a:ext cx="5120640" cy="2103120"/>
          </a:xfrm>
          <a:prstGeom prst="roundRect">
            <a:avLst>
              <a:gd name="adj" fmla="val 2174"/>
            </a:avLst>
          </a:prstGeom>
          <a:solidFill>
            <a:srgbClr val="FFFFFF"/>
          </a:solidFill>
          <a:ln w="19050">
            <a:solidFill>
              <a:srgbClr val="E2E8F0"/>
            </a:solidFill>
            <a:prstDash val="solid"/>
          </a:ln>
        </p:spPr>
      </p:sp>
      <p:sp>
        <p:nvSpPr>
          <p:cNvPr id="12" name="Text 10"/>
          <p:cNvSpPr/>
          <p:nvPr/>
        </p:nvSpPr>
        <p:spPr>
          <a:xfrm>
            <a:off x="6492240" y="1645920"/>
            <a:ext cx="914400" cy="457200"/>
          </a:xfrm>
          <a:prstGeom prst="rect">
            <a:avLst/>
          </a:prstGeom>
          <a:noFill/>
          <a:ln/>
        </p:spPr>
        <p:txBody>
          <a:bodyPr wrap="square" rtlCol="0" anchor="ctr"/>
          <a:lstStyle/>
          <a:p>
            <a:pPr indent="0" marL="0">
              <a:buNone/>
            </a:pPr>
            <a:r>
              <a:rPr lang="en-US" sz="2200" b="1" dirty="0">
                <a:solidFill>
                  <a:srgbClr val="0F172A"/>
                </a:solidFill>
              </a:rPr>
              <a:t>02</a:t>
            </a:r>
            <a:endParaRPr lang="en-US" sz="2200" dirty="0"/>
          </a:p>
        </p:txBody>
      </p:sp>
      <p:sp>
        <p:nvSpPr>
          <p:cNvPr id="13" name="Text 11"/>
          <p:cNvSpPr/>
          <p:nvPr/>
        </p:nvSpPr>
        <p:spPr>
          <a:xfrm>
            <a:off x="7315200" y="1645920"/>
            <a:ext cx="3749040" cy="365760"/>
          </a:xfrm>
          <a:prstGeom prst="rect">
            <a:avLst/>
          </a:prstGeom>
          <a:noFill/>
          <a:ln/>
        </p:spPr>
        <p:txBody>
          <a:bodyPr wrap="square" rtlCol="0" anchor="ctr"/>
          <a:lstStyle/>
          <a:p>
            <a:pPr indent="0" marL="0">
              <a:buNone/>
            </a:pPr>
            <a:r>
              <a:rPr lang="en-US" sz="1500" b="1" dirty="0">
                <a:solidFill>
                  <a:srgbClr val="0284C7"/>
                </a:solidFill>
              </a:rPr>
              <a:t>Multi-Vector Inspection</a:t>
            </a:r>
            <a:endParaRPr lang="en-US" sz="1500" dirty="0"/>
          </a:p>
        </p:txBody>
      </p:sp>
      <p:sp>
        <p:nvSpPr>
          <p:cNvPr id="14" name="Text 12"/>
          <p:cNvSpPr/>
          <p:nvPr/>
        </p:nvSpPr>
        <p:spPr>
          <a:xfrm>
            <a:off x="7315200" y="2103120"/>
            <a:ext cx="3749040" cy="1280160"/>
          </a:xfrm>
          <a:prstGeom prst="rect">
            <a:avLst/>
          </a:prstGeom>
          <a:noFill/>
          <a:ln/>
        </p:spPr>
        <p:txBody>
          <a:bodyPr wrap="square" rtlCol="0" anchor="ctr"/>
          <a:lstStyle/>
          <a:p>
            <a:pPr indent="0" marL="0">
              <a:lnSpc>
                <a:spcPts val="1800"/>
              </a:lnSpc>
              <a:buNone/>
            </a:pPr>
            <a:r>
              <a:rPr lang="en-US" sz="1200" dirty="0">
                <a:solidFill>
                  <a:srgbClr val="334155"/>
                </a:solidFill>
              </a:rPr>
              <a:t>Ingest and evaluate three core attack surfaces: Network Flow Packets, Phishing URLs/Domains, and Uploaded File &amp; Log Payloads.</a:t>
            </a:r>
            <a:endParaRPr lang="en-US" sz="1200" dirty="0"/>
          </a:p>
        </p:txBody>
      </p:sp>
      <p:sp>
        <p:nvSpPr>
          <p:cNvPr id="15" name="Shape 13"/>
          <p:cNvSpPr/>
          <p:nvPr/>
        </p:nvSpPr>
        <p:spPr>
          <a:xfrm>
            <a:off x="731520" y="3840480"/>
            <a:ext cx="5120640" cy="2103120"/>
          </a:xfrm>
          <a:prstGeom prst="roundRect">
            <a:avLst>
              <a:gd name="adj" fmla="val 2174"/>
            </a:avLst>
          </a:prstGeom>
          <a:solidFill>
            <a:srgbClr val="FFFFFF"/>
          </a:solidFill>
          <a:ln w="19050">
            <a:solidFill>
              <a:srgbClr val="E2E8F0"/>
            </a:solidFill>
            <a:prstDash val="solid"/>
          </a:ln>
        </p:spPr>
      </p:sp>
      <p:sp>
        <p:nvSpPr>
          <p:cNvPr id="16" name="Text 14"/>
          <p:cNvSpPr/>
          <p:nvPr/>
        </p:nvSpPr>
        <p:spPr>
          <a:xfrm>
            <a:off x="1005840" y="4023360"/>
            <a:ext cx="914400" cy="457200"/>
          </a:xfrm>
          <a:prstGeom prst="rect">
            <a:avLst/>
          </a:prstGeom>
          <a:noFill/>
          <a:ln/>
        </p:spPr>
        <p:txBody>
          <a:bodyPr wrap="square" rtlCol="0" anchor="ctr"/>
          <a:lstStyle/>
          <a:p>
            <a:pPr indent="0" marL="0">
              <a:buNone/>
            </a:pPr>
            <a:r>
              <a:rPr lang="en-US" sz="2200" b="1" dirty="0">
                <a:solidFill>
                  <a:srgbClr val="0F172A"/>
                </a:solidFill>
              </a:rPr>
              <a:t>03</a:t>
            </a:r>
            <a:endParaRPr lang="en-US" sz="2200" dirty="0"/>
          </a:p>
        </p:txBody>
      </p:sp>
      <p:sp>
        <p:nvSpPr>
          <p:cNvPr id="17" name="Text 15"/>
          <p:cNvSpPr/>
          <p:nvPr/>
        </p:nvSpPr>
        <p:spPr>
          <a:xfrm>
            <a:off x="1828800" y="4023360"/>
            <a:ext cx="3749040" cy="365760"/>
          </a:xfrm>
          <a:prstGeom prst="rect">
            <a:avLst/>
          </a:prstGeom>
          <a:noFill/>
          <a:ln/>
        </p:spPr>
        <p:txBody>
          <a:bodyPr wrap="square" rtlCol="0" anchor="ctr"/>
          <a:lstStyle/>
          <a:p>
            <a:pPr indent="0" marL="0">
              <a:buNone/>
            </a:pPr>
            <a:r>
              <a:rPr lang="en-US" sz="1500" b="1" dirty="0">
                <a:solidFill>
                  <a:srgbClr val="0284C7"/>
                </a:solidFill>
              </a:rPr>
              <a:t>Interactive SOC Web Dashboard</a:t>
            </a:r>
            <a:endParaRPr lang="en-US" sz="1500" dirty="0"/>
          </a:p>
        </p:txBody>
      </p:sp>
      <p:sp>
        <p:nvSpPr>
          <p:cNvPr id="18" name="Text 16"/>
          <p:cNvSpPr/>
          <p:nvPr/>
        </p:nvSpPr>
        <p:spPr>
          <a:xfrm>
            <a:off x="1828800" y="4480560"/>
            <a:ext cx="3749040" cy="1280160"/>
          </a:xfrm>
          <a:prstGeom prst="rect">
            <a:avLst/>
          </a:prstGeom>
          <a:noFill/>
          <a:ln/>
        </p:spPr>
        <p:txBody>
          <a:bodyPr wrap="square" rtlCol="0" anchor="ctr"/>
          <a:lstStyle/>
          <a:p>
            <a:pPr indent="0" marL="0">
              <a:lnSpc>
                <a:spcPts val="1800"/>
              </a:lnSpc>
              <a:buNone/>
            </a:pPr>
            <a:r>
              <a:rPr lang="en-US" sz="1200" dirty="0">
                <a:solidFill>
                  <a:srgbClr val="334155"/>
                </a:solidFill>
              </a:rPr>
              <a:t>Deliver a React 19 web application providing real-time telemetry charts (Recharts), live threat feeds, and 1-click firewall block controls.</a:t>
            </a:r>
            <a:endParaRPr lang="en-US" sz="1200" dirty="0"/>
          </a:p>
        </p:txBody>
      </p:sp>
      <p:sp>
        <p:nvSpPr>
          <p:cNvPr id="19" name="Shape 17"/>
          <p:cNvSpPr/>
          <p:nvPr/>
        </p:nvSpPr>
        <p:spPr>
          <a:xfrm>
            <a:off x="6217920" y="3840480"/>
            <a:ext cx="5120640" cy="2103120"/>
          </a:xfrm>
          <a:prstGeom prst="roundRect">
            <a:avLst>
              <a:gd name="adj" fmla="val 2174"/>
            </a:avLst>
          </a:prstGeom>
          <a:solidFill>
            <a:srgbClr val="FFFFFF"/>
          </a:solidFill>
          <a:ln w="19050">
            <a:solidFill>
              <a:srgbClr val="E2E8F0"/>
            </a:solidFill>
            <a:prstDash val="solid"/>
          </a:ln>
        </p:spPr>
      </p:sp>
      <p:sp>
        <p:nvSpPr>
          <p:cNvPr id="20" name="Text 18"/>
          <p:cNvSpPr/>
          <p:nvPr/>
        </p:nvSpPr>
        <p:spPr>
          <a:xfrm>
            <a:off x="6492240" y="4023360"/>
            <a:ext cx="914400" cy="457200"/>
          </a:xfrm>
          <a:prstGeom prst="rect">
            <a:avLst/>
          </a:prstGeom>
          <a:noFill/>
          <a:ln/>
        </p:spPr>
        <p:txBody>
          <a:bodyPr wrap="square" rtlCol="0" anchor="ctr"/>
          <a:lstStyle/>
          <a:p>
            <a:pPr indent="0" marL="0">
              <a:buNone/>
            </a:pPr>
            <a:r>
              <a:rPr lang="en-US" sz="2200" b="1" dirty="0">
                <a:solidFill>
                  <a:srgbClr val="0F172A"/>
                </a:solidFill>
              </a:rPr>
              <a:t>04</a:t>
            </a:r>
            <a:endParaRPr lang="en-US" sz="2200" dirty="0"/>
          </a:p>
        </p:txBody>
      </p:sp>
      <p:sp>
        <p:nvSpPr>
          <p:cNvPr id="21" name="Text 19"/>
          <p:cNvSpPr/>
          <p:nvPr/>
        </p:nvSpPr>
        <p:spPr>
          <a:xfrm>
            <a:off x="7315200" y="4023360"/>
            <a:ext cx="3749040" cy="365760"/>
          </a:xfrm>
          <a:prstGeom prst="rect">
            <a:avLst/>
          </a:prstGeom>
          <a:noFill/>
          <a:ln/>
        </p:spPr>
        <p:txBody>
          <a:bodyPr wrap="square" rtlCol="0" anchor="ctr"/>
          <a:lstStyle/>
          <a:p>
            <a:pPr indent="0" marL="0">
              <a:buNone/>
            </a:pPr>
            <a:r>
              <a:rPr lang="en-US" sz="1500" b="1" dirty="0">
                <a:solidFill>
                  <a:srgbClr val="0284C7"/>
                </a:solidFill>
              </a:rPr>
              <a:t>Continuous Analyst Feedback Loop</a:t>
            </a:r>
            <a:endParaRPr lang="en-US" sz="1500" dirty="0"/>
          </a:p>
        </p:txBody>
      </p:sp>
      <p:sp>
        <p:nvSpPr>
          <p:cNvPr id="22" name="Text 20"/>
          <p:cNvSpPr/>
          <p:nvPr/>
        </p:nvSpPr>
        <p:spPr>
          <a:xfrm>
            <a:off x="7315200" y="4480560"/>
            <a:ext cx="3749040" cy="1280160"/>
          </a:xfrm>
          <a:prstGeom prst="rect">
            <a:avLst/>
          </a:prstGeom>
          <a:noFill/>
          <a:ln/>
        </p:spPr>
        <p:txBody>
          <a:bodyPr wrap="square" rtlCol="0" anchor="ctr"/>
          <a:lstStyle/>
          <a:p>
            <a:pPr indent="0" marL="0">
              <a:lnSpc>
                <a:spcPts val="1800"/>
              </a:lnSpc>
              <a:buNone/>
            </a:pPr>
            <a:r>
              <a:rPr lang="en-US" sz="1200" dirty="0">
                <a:solidFill>
                  <a:srgbClr val="334155"/>
                </a:solidFill>
              </a:rPr>
              <a:t>Implement endpoints (/url/feedback) allowing security analysts to correct misclassifications and trigger 1-click dynamic model retraining.</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6400800"/>
            <a:ext cx="10698480" cy="0"/>
          </a:xfrm>
          <a:prstGeom prst="line">
            <a:avLst/>
          </a:prstGeom>
          <a:noFill/>
          <a:ln w="12700">
            <a:solidFill>
              <a:srgbClr val="E2E8F0"/>
            </a:solidFill>
            <a:prstDash val="solid"/>
          </a:ln>
        </p:spPr>
      </p:sp>
      <p:sp>
        <p:nvSpPr>
          <p:cNvPr id="3" name="Text 1"/>
          <p:cNvSpPr/>
          <p:nvPr/>
        </p:nvSpPr>
        <p:spPr>
          <a:xfrm>
            <a:off x="731520" y="6446520"/>
            <a:ext cx="8229600" cy="274320"/>
          </a:xfrm>
          <a:prstGeom prst="rect">
            <a:avLst/>
          </a:prstGeom>
          <a:noFill/>
          <a:ln/>
        </p:spPr>
        <p:txBody>
          <a:bodyPr wrap="square" rtlCol="0" anchor="ctr"/>
          <a:lstStyle/>
          <a:p>
            <a:pPr indent="0" marL="0">
              <a:buNone/>
            </a:pPr>
            <a:r>
              <a:rPr lang="en-US" sz="900" dirty="0">
                <a:solidFill>
                  <a:srgbClr val="64748B"/>
                </a:solidFill>
              </a:rPr>
              <a:t>Intelligent Network Intrusion Detection System (AI-NIDS) | Academic Project Presentation</a:t>
            </a:r>
            <a:endParaRPr lang="en-US" sz="900" dirty="0"/>
          </a:p>
        </p:txBody>
      </p:sp>
      <p:sp>
        <p:nvSpPr>
          <p:cNvPr id="4" name="Text 2"/>
          <p:cNvSpPr/>
          <p:nvPr/>
        </p:nvSpPr>
        <p:spPr>
          <a:xfrm>
            <a:off x="731520" y="320040"/>
            <a:ext cx="10515600" cy="274320"/>
          </a:xfrm>
          <a:prstGeom prst="rect">
            <a:avLst/>
          </a:prstGeom>
          <a:noFill/>
          <a:ln/>
        </p:spPr>
        <p:txBody>
          <a:bodyPr wrap="square" rtlCol="0" anchor="ctr"/>
          <a:lstStyle/>
          <a:p>
            <a:pPr indent="0" marL="0">
              <a:buNone/>
            </a:pPr>
            <a:r>
              <a:rPr lang="en-US" sz="1000" b="1" dirty="0">
                <a:solidFill>
                  <a:srgbClr val="0284C7"/>
                </a:solidFill>
              </a:rPr>
              <a:t>AI-NIDS PROJECT PRESENTATION</a:t>
            </a:r>
            <a:endParaRPr lang="en-US" sz="1000" dirty="0"/>
          </a:p>
        </p:txBody>
      </p:sp>
      <p:sp>
        <p:nvSpPr>
          <p:cNvPr id="5" name="Text 3"/>
          <p:cNvSpPr/>
          <p:nvPr/>
        </p:nvSpPr>
        <p:spPr>
          <a:xfrm>
            <a:off x="731520" y="548640"/>
            <a:ext cx="10515600" cy="548640"/>
          </a:xfrm>
          <a:prstGeom prst="rect">
            <a:avLst/>
          </a:prstGeom>
          <a:noFill/>
          <a:ln/>
        </p:spPr>
        <p:txBody>
          <a:bodyPr wrap="square" rtlCol="0" anchor="ctr"/>
          <a:lstStyle/>
          <a:p>
            <a:pPr indent="0" marL="0">
              <a:buNone/>
            </a:pPr>
            <a:r>
              <a:rPr lang="en-US" sz="2200" b="1" dirty="0">
                <a:solidFill>
                  <a:srgbClr val="0F172A"/>
                </a:solidFill>
              </a:rPr>
              <a:t>Literature Review &amp; Comparative Analysis</a:t>
            </a:r>
            <a:endParaRPr lang="en-US" sz="2200" dirty="0"/>
          </a:p>
        </p:txBody>
      </p:sp>
      <p:sp>
        <p:nvSpPr>
          <p:cNvPr id="6" name="Shape 4"/>
          <p:cNvSpPr/>
          <p:nvPr/>
        </p:nvSpPr>
        <p:spPr>
          <a:xfrm>
            <a:off x="731520" y="1143000"/>
            <a:ext cx="10698480" cy="0"/>
          </a:xfrm>
          <a:prstGeom prst="line">
            <a:avLst/>
          </a:prstGeom>
          <a:noFill/>
          <a:ln w="19050">
            <a:solidFill>
              <a:srgbClr val="E2E8F0"/>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31520" y="1463040"/>
          <a:ext cx="10698480" cy="4572000"/>
        </p:xfrm>
        <a:graphic>
          <a:graphicData uri="http://schemas.openxmlformats.org/drawingml/2006/table">
            <a:tbl>
              <a:tblPr/>
              <a:tblGrid>
                <a:gridCol w="2286000"/>
                <a:gridCol w="2743200"/>
                <a:gridCol w="2834640"/>
                <a:gridCol w="2834640"/>
              </a:tblGrid>
              <a:tr h="914400">
                <a:tc>
                  <a:txBody>
                    <a:bodyPr/>
                    <a:lstStyle/>
                    <a:p>
                      <a:pPr algn="l" indent="0" marL="0">
                        <a:buNone/>
                      </a:pPr>
                      <a:r>
                        <a:rPr lang="en-US" sz="1100" b="1" dirty="0">
                          <a:solidFill>
                            <a:srgbClr val="0F172A"/>
                          </a:solidFill>
                        </a:rPr>
                        <a:t>System Category</a:t>
                      </a:r>
                      <a:endParaRPr lang="en-US" sz="11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algn="l" indent="0" marL="0">
                        <a:buNone/>
                      </a:pPr>
                      <a:r>
                        <a:rPr lang="en-US" sz="1100" b="1" dirty="0">
                          <a:solidFill>
                            <a:srgbClr val="0F172A"/>
                          </a:solidFill>
                        </a:rPr>
                        <a:t>Key Technology / Approach</a:t>
                      </a:r>
                      <a:endParaRPr lang="en-US" sz="11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algn="l" indent="0" marL="0">
                        <a:buNone/>
                      </a:pPr>
                      <a:r>
                        <a:rPr lang="en-US" sz="1100" b="1" dirty="0">
                          <a:solidFill>
                            <a:srgbClr val="0F172A"/>
                          </a:solidFill>
                        </a:rPr>
                        <a:t>Strengths</a:t>
                      </a:r>
                      <a:endParaRPr lang="en-US" sz="11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algn="l" indent="0" marL="0">
                        <a:buNone/>
                      </a:pPr>
                      <a:r>
                        <a:rPr lang="en-US" sz="1100" b="1" dirty="0">
                          <a:solidFill>
                            <a:srgbClr val="0F172A"/>
                          </a:solidFill>
                        </a:rPr>
                        <a:t>Critical Limitations</a:t>
                      </a:r>
                      <a:endParaRPr lang="en-US" sz="11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r>
              <a:tr h="914400">
                <a:tc>
                  <a:txBody>
                    <a:bodyPr/>
                    <a:lstStyle/>
                    <a:p>
                      <a:pPr algn="l" indent="0" marL="0">
                        <a:buNone/>
                      </a:pPr>
                      <a:r>
                        <a:rPr lang="en-US" sz="1100" dirty="0">
                          <a:solidFill>
                            <a:srgbClr val="334155"/>
                          </a:solidFill>
                        </a:rPr>
                        <a:t>Legacy Signature NIDS</a:t>
                      </a:r>
                      <a:endParaRPr lang="en-US" sz="11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34155"/>
                          </a:solidFill>
                        </a:rPr>
                        <a:t>Snort, Suricata, YARA Rules</a:t>
                      </a:r>
                      <a:endParaRPr lang="en-US" sz="11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34155"/>
                          </a:solidFill>
                        </a:rPr>
                        <a:t>High processing speed for known signatures</a:t>
                      </a:r>
                      <a:endParaRPr lang="en-US" sz="11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34155"/>
                          </a:solidFill>
                        </a:rPr>
                        <a:t>Helpless against zero-day exploits; static rule database requiring manual updates.</a:t>
                      </a:r>
                      <a:endParaRPr lang="en-US" sz="11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914400">
                <a:tc>
                  <a:txBody>
                    <a:bodyPr/>
                    <a:lstStyle/>
                    <a:p>
                      <a:pPr algn="l" indent="0" marL="0">
                        <a:buNone/>
                      </a:pPr>
                      <a:r>
                        <a:rPr lang="en-US" sz="1100" dirty="0">
                          <a:solidFill>
                            <a:srgbClr val="334155"/>
                          </a:solidFill>
                        </a:rPr>
                        <a:t>Traditional ML NIDS</a:t>
                      </a:r>
                      <a:endParaRPr lang="en-US" sz="11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34155"/>
                          </a:solidFill>
                        </a:rPr>
                        <a:t>Support Vector Machines, Naive Bayes</a:t>
                      </a:r>
                      <a:endParaRPr lang="en-US" sz="11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34155"/>
                          </a:solidFill>
                        </a:rPr>
                        <a:t>Learns non-linear boundary maps</a:t>
                      </a:r>
                      <a:endParaRPr lang="en-US" sz="11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34155"/>
                          </a:solidFill>
                        </a:rPr>
                        <a:t>High training latency on large flow logs; struggles with feature scaling &amp; dimensionality.</a:t>
                      </a:r>
                      <a:endParaRPr lang="en-US" sz="11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914400">
                <a:tc>
                  <a:txBody>
                    <a:bodyPr/>
                    <a:lstStyle/>
                    <a:p>
                      <a:pPr algn="l" indent="0" marL="0">
                        <a:buNone/>
                      </a:pPr>
                      <a:r>
                        <a:rPr lang="en-US" sz="1100" dirty="0">
                          <a:solidFill>
                            <a:srgbClr val="334155"/>
                          </a:solidFill>
                        </a:rPr>
                        <a:t>Deep Learning NIDS</a:t>
                      </a:r>
                      <a:endParaRPr lang="en-US" sz="11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34155"/>
                          </a:solidFill>
                        </a:rPr>
                        <a:t>LSTM Networks, 1D-CNN, Autoencoders</a:t>
                      </a:r>
                      <a:endParaRPr lang="en-US" sz="11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34155"/>
                          </a:solidFill>
                        </a:rPr>
                        <a:t>Excellent sequence modeling for flow patterns</a:t>
                      </a:r>
                      <a:endParaRPr lang="en-US" sz="11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34155"/>
                          </a:solidFill>
                        </a:rPr>
                        <a:t>Heavy compute requirement (&gt;20ms latency); black-box model lacks interpretability.</a:t>
                      </a:r>
                      <a:endParaRPr lang="en-US" sz="11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914400">
                <a:tc>
                  <a:txBody>
                    <a:bodyPr/>
                    <a:lstStyle/>
                    <a:p>
                      <a:pPr algn="l" indent="0" marL="0">
                        <a:buNone/>
                      </a:pPr>
                      <a:r>
                        <a:rPr lang="en-US" sz="1100" b="1" dirty="0">
                          <a:solidFill>
                            <a:srgbClr val="0284C7"/>
                          </a:solidFill>
                        </a:rPr>
                        <a:t>Proposed AI-NIDS</a:t>
                      </a:r>
                      <a:endParaRPr lang="en-US" sz="11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0F9FF"/>
                    </a:solidFill>
                  </a:tcPr>
                </a:tc>
                <a:tc>
                  <a:txBody>
                    <a:bodyPr/>
                    <a:lstStyle/>
                    <a:p>
                      <a:pPr algn="l" indent="0" marL="0">
                        <a:buNone/>
                      </a:pPr>
                      <a:r>
                        <a:rPr lang="en-US" sz="1100" b="1" dirty="0">
                          <a:solidFill>
                            <a:srgbClr val="0284C7"/>
                          </a:solidFill>
                        </a:rPr>
                        <a:t>Random Forest + Shannon Entropy</a:t>
                      </a:r>
                      <a:endParaRPr lang="en-US" sz="11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0F9FF"/>
                    </a:solidFill>
                  </a:tcPr>
                </a:tc>
                <a:tc>
                  <a:txBody>
                    <a:bodyPr/>
                    <a:lstStyle/>
                    <a:p>
                      <a:pPr algn="l" indent="0" marL="0">
                        <a:buNone/>
                      </a:pPr>
                      <a:r>
                        <a:rPr lang="en-US" sz="1100" b="1" dirty="0">
                          <a:solidFill>
                            <a:srgbClr val="0284C7"/>
                          </a:solidFill>
                        </a:rPr>
                        <a:t>&lt;3.2ms latency, high interpretability, zero-day protection</a:t>
                      </a:r>
                      <a:endParaRPr lang="en-US" sz="11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0F9FF"/>
                    </a:solidFill>
                  </a:tcPr>
                </a:tc>
                <a:tc>
                  <a:txBody>
                    <a:bodyPr/>
                    <a:lstStyle/>
                    <a:p>
                      <a:pPr algn="l" indent="0" marL="0">
                        <a:buNone/>
                      </a:pPr>
                      <a:r>
                        <a:rPr lang="en-US" sz="1100" b="1" dirty="0">
                          <a:solidFill>
                            <a:srgbClr val="0284C7"/>
                          </a:solidFill>
                        </a:rPr>
                        <a:t>Requires initial feature vectorization pipeline</a:t>
                      </a:r>
                      <a:endParaRPr lang="en-US" sz="11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0F9FF"/>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6400800"/>
            <a:ext cx="10698480" cy="0"/>
          </a:xfrm>
          <a:prstGeom prst="line">
            <a:avLst/>
          </a:prstGeom>
          <a:noFill/>
          <a:ln w="12700">
            <a:solidFill>
              <a:srgbClr val="E2E8F0"/>
            </a:solidFill>
            <a:prstDash val="solid"/>
          </a:ln>
        </p:spPr>
      </p:sp>
      <p:sp>
        <p:nvSpPr>
          <p:cNvPr id="3" name="Text 1"/>
          <p:cNvSpPr/>
          <p:nvPr/>
        </p:nvSpPr>
        <p:spPr>
          <a:xfrm>
            <a:off x="731520" y="6446520"/>
            <a:ext cx="8229600" cy="274320"/>
          </a:xfrm>
          <a:prstGeom prst="rect">
            <a:avLst/>
          </a:prstGeom>
          <a:noFill/>
          <a:ln/>
        </p:spPr>
        <p:txBody>
          <a:bodyPr wrap="square" rtlCol="0" anchor="ctr"/>
          <a:lstStyle/>
          <a:p>
            <a:pPr indent="0" marL="0">
              <a:buNone/>
            </a:pPr>
            <a:r>
              <a:rPr lang="en-US" sz="900" dirty="0">
                <a:solidFill>
                  <a:srgbClr val="64748B"/>
                </a:solidFill>
              </a:rPr>
              <a:t>Intelligent Network Intrusion Detection System (AI-NIDS) | Academic Project Presentation</a:t>
            </a:r>
            <a:endParaRPr lang="en-US" sz="900" dirty="0"/>
          </a:p>
        </p:txBody>
      </p:sp>
      <p:sp>
        <p:nvSpPr>
          <p:cNvPr id="4" name="Text 2"/>
          <p:cNvSpPr/>
          <p:nvPr/>
        </p:nvSpPr>
        <p:spPr>
          <a:xfrm>
            <a:off x="731520" y="320040"/>
            <a:ext cx="10515600" cy="274320"/>
          </a:xfrm>
          <a:prstGeom prst="rect">
            <a:avLst/>
          </a:prstGeom>
          <a:noFill/>
          <a:ln/>
        </p:spPr>
        <p:txBody>
          <a:bodyPr wrap="square" rtlCol="0" anchor="ctr"/>
          <a:lstStyle/>
          <a:p>
            <a:pPr indent="0" marL="0">
              <a:buNone/>
            </a:pPr>
            <a:r>
              <a:rPr lang="en-US" sz="1000" b="1" dirty="0">
                <a:solidFill>
                  <a:srgbClr val="0284C7"/>
                </a:solidFill>
              </a:rPr>
              <a:t>AI-NIDS PROJECT PRESENTATION</a:t>
            </a:r>
            <a:endParaRPr lang="en-US" sz="1000" dirty="0"/>
          </a:p>
        </p:txBody>
      </p:sp>
      <p:sp>
        <p:nvSpPr>
          <p:cNvPr id="5" name="Text 3"/>
          <p:cNvSpPr/>
          <p:nvPr/>
        </p:nvSpPr>
        <p:spPr>
          <a:xfrm>
            <a:off x="731520" y="548640"/>
            <a:ext cx="10515600" cy="548640"/>
          </a:xfrm>
          <a:prstGeom prst="rect">
            <a:avLst/>
          </a:prstGeom>
          <a:noFill/>
          <a:ln/>
        </p:spPr>
        <p:txBody>
          <a:bodyPr wrap="square" rtlCol="0" anchor="ctr"/>
          <a:lstStyle/>
          <a:p>
            <a:pPr indent="0" marL="0">
              <a:buNone/>
            </a:pPr>
            <a:r>
              <a:rPr lang="en-US" sz="2200" b="1" dirty="0">
                <a:solidFill>
                  <a:srgbClr val="0F172A"/>
                </a:solidFill>
              </a:rPr>
              <a:t>System Modules &amp; Functional Architecture</a:t>
            </a:r>
            <a:endParaRPr lang="en-US" sz="2200" dirty="0"/>
          </a:p>
        </p:txBody>
      </p:sp>
      <p:sp>
        <p:nvSpPr>
          <p:cNvPr id="6" name="Shape 4"/>
          <p:cNvSpPr/>
          <p:nvPr/>
        </p:nvSpPr>
        <p:spPr>
          <a:xfrm>
            <a:off x="731520" y="1143000"/>
            <a:ext cx="10698480" cy="0"/>
          </a:xfrm>
          <a:prstGeom prst="line">
            <a:avLst/>
          </a:prstGeom>
          <a:noFill/>
          <a:ln w="19050">
            <a:solidFill>
              <a:srgbClr val="E2E8F0"/>
            </a:solidFill>
            <a:prstDash val="solid"/>
          </a:ln>
        </p:spPr>
      </p:sp>
      <p:sp>
        <p:nvSpPr>
          <p:cNvPr id="7" name="Shape 5"/>
          <p:cNvSpPr/>
          <p:nvPr/>
        </p:nvSpPr>
        <p:spPr>
          <a:xfrm>
            <a:off x="731520" y="1463040"/>
            <a:ext cx="5120640" cy="2103120"/>
          </a:xfrm>
          <a:prstGeom prst="roundRect">
            <a:avLst>
              <a:gd name="adj" fmla="val 2174"/>
            </a:avLst>
          </a:prstGeom>
          <a:solidFill>
            <a:srgbClr val="FFFFFF"/>
          </a:solidFill>
          <a:ln w="25400">
            <a:solidFill>
              <a:srgbClr val="0284C7"/>
            </a:solidFill>
            <a:prstDash val="solid"/>
          </a:ln>
        </p:spPr>
      </p:sp>
      <p:sp>
        <p:nvSpPr>
          <p:cNvPr id="8" name="Text 6"/>
          <p:cNvSpPr/>
          <p:nvPr/>
        </p:nvSpPr>
        <p:spPr>
          <a:xfrm>
            <a:off x="1005840" y="1691640"/>
            <a:ext cx="4572000" cy="365760"/>
          </a:xfrm>
          <a:prstGeom prst="rect">
            <a:avLst/>
          </a:prstGeom>
          <a:noFill/>
          <a:ln/>
        </p:spPr>
        <p:txBody>
          <a:bodyPr wrap="square" rtlCol="0" anchor="ctr"/>
          <a:lstStyle/>
          <a:p>
            <a:pPr indent="0" marL="0">
              <a:buNone/>
            </a:pPr>
            <a:r>
              <a:rPr lang="en-US" sz="1500" b="1" dirty="0">
                <a:solidFill>
                  <a:srgbClr val="0284C7"/>
                </a:solidFill>
              </a:rPr>
              <a:t>1. Network Traffic Module</a:t>
            </a:r>
            <a:endParaRPr lang="en-US" sz="1500" dirty="0"/>
          </a:p>
        </p:txBody>
      </p:sp>
      <p:sp>
        <p:nvSpPr>
          <p:cNvPr id="9" name="Text 7"/>
          <p:cNvSpPr/>
          <p:nvPr/>
        </p:nvSpPr>
        <p:spPr>
          <a:xfrm>
            <a:off x="1005840" y="2148840"/>
            <a:ext cx="4572000" cy="1280160"/>
          </a:xfrm>
          <a:prstGeom prst="rect">
            <a:avLst/>
          </a:prstGeom>
          <a:noFill/>
          <a:ln/>
        </p:spPr>
        <p:txBody>
          <a:bodyPr wrap="square" rtlCol="0" anchor="ctr"/>
          <a:lstStyle/>
          <a:p>
            <a:pPr indent="0" marL="0">
              <a:lnSpc>
                <a:spcPts val="1800"/>
              </a:lnSpc>
              <a:buNone/>
            </a:pPr>
            <a:r>
              <a:rPr lang="en-US" sz="1200" dirty="0">
                <a:solidFill>
                  <a:srgbClr val="334155"/>
                </a:solidFill>
              </a:rPr>
              <a:t>Extracts telemetry vectors (ports, size, entropy, TCP flags). Feeds Random Forest classifier for multi-class threat scoring.</a:t>
            </a:r>
            <a:endParaRPr lang="en-US" sz="1200" dirty="0"/>
          </a:p>
        </p:txBody>
      </p:sp>
      <p:sp>
        <p:nvSpPr>
          <p:cNvPr id="10" name="Shape 8"/>
          <p:cNvSpPr/>
          <p:nvPr/>
        </p:nvSpPr>
        <p:spPr>
          <a:xfrm>
            <a:off x="6217920" y="1463040"/>
            <a:ext cx="5212080" cy="2103120"/>
          </a:xfrm>
          <a:prstGeom prst="roundRect">
            <a:avLst>
              <a:gd name="adj" fmla="val 2174"/>
            </a:avLst>
          </a:prstGeom>
          <a:solidFill>
            <a:srgbClr val="FFFFFF"/>
          </a:solidFill>
          <a:ln w="25400">
            <a:solidFill>
              <a:srgbClr val="0F172A"/>
            </a:solidFill>
            <a:prstDash val="solid"/>
          </a:ln>
        </p:spPr>
      </p:sp>
      <p:sp>
        <p:nvSpPr>
          <p:cNvPr id="11" name="Text 9"/>
          <p:cNvSpPr/>
          <p:nvPr/>
        </p:nvSpPr>
        <p:spPr>
          <a:xfrm>
            <a:off x="6492240" y="1691640"/>
            <a:ext cx="4663440" cy="365760"/>
          </a:xfrm>
          <a:prstGeom prst="rect">
            <a:avLst/>
          </a:prstGeom>
          <a:noFill/>
          <a:ln/>
        </p:spPr>
        <p:txBody>
          <a:bodyPr wrap="square" rtlCol="0" anchor="ctr"/>
          <a:lstStyle/>
          <a:p>
            <a:pPr indent="0" marL="0">
              <a:buNone/>
            </a:pPr>
            <a:r>
              <a:rPr lang="en-US" sz="1500" b="1" dirty="0">
                <a:solidFill>
                  <a:srgbClr val="0F172A"/>
                </a:solidFill>
              </a:rPr>
              <a:t>2. URL Intelligence Inspector</a:t>
            </a:r>
            <a:endParaRPr lang="en-US" sz="1500" dirty="0"/>
          </a:p>
        </p:txBody>
      </p:sp>
      <p:sp>
        <p:nvSpPr>
          <p:cNvPr id="12" name="Text 10"/>
          <p:cNvSpPr/>
          <p:nvPr/>
        </p:nvSpPr>
        <p:spPr>
          <a:xfrm>
            <a:off x="6492240" y="2148840"/>
            <a:ext cx="4663440" cy="1280160"/>
          </a:xfrm>
          <a:prstGeom prst="rect">
            <a:avLst/>
          </a:prstGeom>
          <a:noFill/>
          <a:ln/>
        </p:spPr>
        <p:txBody>
          <a:bodyPr wrap="square" rtlCol="0" anchor="ctr"/>
          <a:lstStyle/>
          <a:p>
            <a:pPr indent="0" marL="0">
              <a:lnSpc>
                <a:spcPts val="1800"/>
              </a:lnSpc>
              <a:buNone/>
            </a:pPr>
            <a:r>
              <a:rPr lang="en-US" sz="1200" dirty="0">
                <a:solidFill>
                  <a:srgbClr val="334155"/>
                </a:solidFill>
              </a:rPr>
              <a:t>Validates SSL certificates, raw IP hostnames, high-risk TLDs, and typosquatting distance. Calculates hostname entropy (&gt;3.8) for DGA botnets.</a:t>
            </a:r>
            <a:endParaRPr lang="en-US" sz="1200" dirty="0"/>
          </a:p>
        </p:txBody>
      </p:sp>
      <p:sp>
        <p:nvSpPr>
          <p:cNvPr id="13" name="Shape 11"/>
          <p:cNvSpPr/>
          <p:nvPr/>
        </p:nvSpPr>
        <p:spPr>
          <a:xfrm>
            <a:off x="731520" y="3840480"/>
            <a:ext cx="5120640" cy="2194560"/>
          </a:xfrm>
          <a:prstGeom prst="roundRect">
            <a:avLst>
              <a:gd name="adj" fmla="val 2083"/>
            </a:avLst>
          </a:prstGeom>
          <a:solidFill>
            <a:srgbClr val="FFFFFF"/>
          </a:solidFill>
          <a:ln w="25400">
            <a:solidFill>
              <a:srgbClr val="DC2626"/>
            </a:solidFill>
            <a:prstDash val="solid"/>
          </a:ln>
        </p:spPr>
      </p:sp>
      <p:sp>
        <p:nvSpPr>
          <p:cNvPr id="14" name="Text 12"/>
          <p:cNvSpPr/>
          <p:nvPr/>
        </p:nvSpPr>
        <p:spPr>
          <a:xfrm>
            <a:off x="1005840" y="4069080"/>
            <a:ext cx="4572000" cy="365760"/>
          </a:xfrm>
          <a:prstGeom prst="rect">
            <a:avLst/>
          </a:prstGeom>
          <a:noFill/>
          <a:ln/>
        </p:spPr>
        <p:txBody>
          <a:bodyPr wrap="square" rtlCol="0" anchor="ctr"/>
          <a:lstStyle/>
          <a:p>
            <a:pPr indent="0" marL="0">
              <a:buNone/>
            </a:pPr>
            <a:r>
              <a:rPr lang="en-US" sz="1500" b="1" dirty="0">
                <a:solidFill>
                  <a:srgbClr val="DC2626"/>
                </a:solidFill>
              </a:rPr>
              <a:t>3. File &amp; Payload Scanner</a:t>
            </a:r>
            <a:endParaRPr lang="en-US" sz="1500" dirty="0"/>
          </a:p>
        </p:txBody>
      </p:sp>
      <p:sp>
        <p:nvSpPr>
          <p:cNvPr id="15" name="Text 13"/>
          <p:cNvSpPr/>
          <p:nvPr/>
        </p:nvSpPr>
        <p:spPr>
          <a:xfrm>
            <a:off x="1005840" y="4526280"/>
            <a:ext cx="4572000" cy="1280160"/>
          </a:xfrm>
          <a:prstGeom prst="rect">
            <a:avLst/>
          </a:prstGeom>
          <a:noFill/>
          <a:ln/>
        </p:spPr>
        <p:txBody>
          <a:bodyPr wrap="square" rtlCol="0" anchor="ctr"/>
          <a:lstStyle/>
          <a:p>
            <a:pPr indent="0" marL="0">
              <a:lnSpc>
                <a:spcPts val="1800"/>
              </a:lnSpc>
              <a:buNone/>
            </a:pPr>
            <a:r>
              <a:rPr lang="en-US" sz="1200" dirty="0">
                <a:solidFill>
                  <a:srgbClr val="334155"/>
                </a:solidFill>
              </a:rPr>
              <a:t>Performs regex pattern checks for RCE, SQLi, and Obfuscated WebShells. Validates binary magic bytes and flags packed malware (&gt;5.3 entropy).</a:t>
            </a:r>
            <a:endParaRPr lang="en-US" sz="1200" dirty="0"/>
          </a:p>
        </p:txBody>
      </p:sp>
      <p:sp>
        <p:nvSpPr>
          <p:cNvPr id="16" name="Shape 14"/>
          <p:cNvSpPr/>
          <p:nvPr/>
        </p:nvSpPr>
        <p:spPr>
          <a:xfrm>
            <a:off x="6217920" y="3840480"/>
            <a:ext cx="5212080" cy="2194560"/>
          </a:xfrm>
          <a:prstGeom prst="roundRect">
            <a:avLst>
              <a:gd name="adj" fmla="val 2083"/>
            </a:avLst>
          </a:prstGeom>
          <a:solidFill>
            <a:srgbClr val="FFFFFF"/>
          </a:solidFill>
          <a:ln w="25400">
            <a:solidFill>
              <a:srgbClr val="D97706"/>
            </a:solidFill>
            <a:prstDash val="solid"/>
          </a:ln>
        </p:spPr>
      </p:sp>
      <p:sp>
        <p:nvSpPr>
          <p:cNvPr id="17" name="Text 15"/>
          <p:cNvSpPr/>
          <p:nvPr/>
        </p:nvSpPr>
        <p:spPr>
          <a:xfrm>
            <a:off x="6492240" y="4069080"/>
            <a:ext cx="4663440" cy="365760"/>
          </a:xfrm>
          <a:prstGeom prst="rect">
            <a:avLst/>
          </a:prstGeom>
          <a:noFill/>
          <a:ln/>
        </p:spPr>
        <p:txBody>
          <a:bodyPr wrap="square" rtlCol="0" anchor="ctr"/>
          <a:lstStyle/>
          <a:p>
            <a:pPr indent="0" marL="0">
              <a:buNone/>
            </a:pPr>
            <a:r>
              <a:rPr lang="en-US" sz="1500" b="1" dirty="0">
                <a:solidFill>
                  <a:srgbClr val="D97706"/>
                </a:solidFill>
              </a:rPr>
              <a:t>4. Interactive SOC UI</a:t>
            </a:r>
            <a:endParaRPr lang="en-US" sz="1500" dirty="0"/>
          </a:p>
        </p:txBody>
      </p:sp>
      <p:sp>
        <p:nvSpPr>
          <p:cNvPr id="18" name="Text 16"/>
          <p:cNvSpPr/>
          <p:nvPr/>
        </p:nvSpPr>
        <p:spPr>
          <a:xfrm>
            <a:off x="6492240" y="4526280"/>
            <a:ext cx="4663440" cy="1280160"/>
          </a:xfrm>
          <a:prstGeom prst="rect">
            <a:avLst/>
          </a:prstGeom>
          <a:noFill/>
          <a:ln/>
        </p:spPr>
        <p:txBody>
          <a:bodyPr wrap="square" rtlCol="0" anchor="ctr"/>
          <a:lstStyle/>
          <a:p>
            <a:pPr indent="0" marL="0">
              <a:lnSpc>
                <a:spcPts val="1800"/>
              </a:lnSpc>
              <a:buNone/>
            </a:pPr>
            <a:r>
              <a:rPr lang="en-US" sz="1200" dirty="0">
                <a:solidFill>
                  <a:srgbClr val="334155"/>
                </a:solidFill>
              </a:rPr>
              <a:t>React 19 single-page application rendering live Recharts telemetry, filterable threat alerts feed, and an integrated Attack Simulator.</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6400800"/>
            <a:ext cx="10698480" cy="0"/>
          </a:xfrm>
          <a:prstGeom prst="line">
            <a:avLst/>
          </a:prstGeom>
          <a:noFill/>
          <a:ln w="12700">
            <a:solidFill>
              <a:srgbClr val="E2E8F0"/>
            </a:solidFill>
            <a:prstDash val="solid"/>
          </a:ln>
        </p:spPr>
      </p:sp>
      <p:sp>
        <p:nvSpPr>
          <p:cNvPr id="3" name="Text 1"/>
          <p:cNvSpPr/>
          <p:nvPr/>
        </p:nvSpPr>
        <p:spPr>
          <a:xfrm>
            <a:off x="731520" y="6446520"/>
            <a:ext cx="8229600" cy="274320"/>
          </a:xfrm>
          <a:prstGeom prst="rect">
            <a:avLst/>
          </a:prstGeom>
          <a:noFill/>
          <a:ln/>
        </p:spPr>
        <p:txBody>
          <a:bodyPr wrap="square" rtlCol="0" anchor="ctr"/>
          <a:lstStyle/>
          <a:p>
            <a:pPr indent="0" marL="0">
              <a:buNone/>
            </a:pPr>
            <a:r>
              <a:rPr lang="en-US" sz="900" dirty="0">
                <a:solidFill>
                  <a:srgbClr val="64748B"/>
                </a:solidFill>
              </a:rPr>
              <a:t>Intelligent Network Intrusion Detection System (AI-NIDS) | Academic Project Presentation</a:t>
            </a:r>
            <a:endParaRPr lang="en-US" sz="900" dirty="0"/>
          </a:p>
        </p:txBody>
      </p:sp>
      <p:sp>
        <p:nvSpPr>
          <p:cNvPr id="4" name="Text 2"/>
          <p:cNvSpPr/>
          <p:nvPr/>
        </p:nvSpPr>
        <p:spPr>
          <a:xfrm>
            <a:off x="731520" y="320040"/>
            <a:ext cx="10515600" cy="274320"/>
          </a:xfrm>
          <a:prstGeom prst="rect">
            <a:avLst/>
          </a:prstGeom>
          <a:noFill/>
          <a:ln/>
        </p:spPr>
        <p:txBody>
          <a:bodyPr wrap="square" rtlCol="0" anchor="ctr"/>
          <a:lstStyle/>
          <a:p>
            <a:pPr indent="0" marL="0">
              <a:buNone/>
            </a:pPr>
            <a:r>
              <a:rPr lang="en-US" sz="1000" b="1" dirty="0">
                <a:solidFill>
                  <a:srgbClr val="0284C7"/>
                </a:solidFill>
              </a:rPr>
              <a:t>AI-NIDS PROJECT PRESENTATION</a:t>
            </a:r>
            <a:endParaRPr lang="en-US" sz="1000" dirty="0"/>
          </a:p>
        </p:txBody>
      </p:sp>
      <p:sp>
        <p:nvSpPr>
          <p:cNvPr id="5" name="Text 3"/>
          <p:cNvSpPr/>
          <p:nvPr/>
        </p:nvSpPr>
        <p:spPr>
          <a:xfrm>
            <a:off x="731520" y="548640"/>
            <a:ext cx="10515600" cy="548640"/>
          </a:xfrm>
          <a:prstGeom prst="rect">
            <a:avLst/>
          </a:prstGeom>
          <a:noFill/>
          <a:ln/>
        </p:spPr>
        <p:txBody>
          <a:bodyPr wrap="square" rtlCol="0" anchor="ctr"/>
          <a:lstStyle/>
          <a:p>
            <a:pPr indent="0" marL="0">
              <a:buNone/>
            </a:pPr>
            <a:r>
              <a:rPr lang="en-US" sz="2200" b="1" dirty="0">
                <a:solidFill>
                  <a:srgbClr val="0F172A"/>
                </a:solidFill>
              </a:rPr>
              <a:t>Software &amp; Hardware Environment Requirements</a:t>
            </a:r>
            <a:endParaRPr lang="en-US" sz="2200" dirty="0"/>
          </a:p>
        </p:txBody>
      </p:sp>
      <p:sp>
        <p:nvSpPr>
          <p:cNvPr id="6" name="Shape 4"/>
          <p:cNvSpPr/>
          <p:nvPr/>
        </p:nvSpPr>
        <p:spPr>
          <a:xfrm>
            <a:off x="731520" y="1143000"/>
            <a:ext cx="10698480" cy="0"/>
          </a:xfrm>
          <a:prstGeom prst="line">
            <a:avLst/>
          </a:prstGeom>
          <a:noFill/>
          <a:ln w="19050">
            <a:solidFill>
              <a:srgbClr val="E2E8F0"/>
            </a:solidFill>
            <a:prstDash val="solid"/>
          </a:ln>
        </p:spPr>
      </p:sp>
      <p:sp>
        <p:nvSpPr>
          <p:cNvPr id="7" name="Shape 5"/>
          <p:cNvSpPr/>
          <p:nvPr/>
        </p:nvSpPr>
        <p:spPr>
          <a:xfrm>
            <a:off x="731520" y="1463040"/>
            <a:ext cx="5120640" cy="4572000"/>
          </a:xfrm>
          <a:prstGeom prst="roundRect">
            <a:avLst>
              <a:gd name="adj" fmla="val 1000"/>
            </a:avLst>
          </a:prstGeom>
          <a:solidFill>
            <a:srgbClr val="FFFFFF"/>
          </a:solidFill>
          <a:ln w="25400">
            <a:solidFill>
              <a:srgbClr val="0284C7"/>
            </a:solidFill>
            <a:prstDash val="solid"/>
          </a:ln>
        </p:spPr>
      </p:sp>
      <p:sp>
        <p:nvSpPr>
          <p:cNvPr id="8" name="Text 6"/>
          <p:cNvSpPr/>
          <p:nvPr/>
        </p:nvSpPr>
        <p:spPr>
          <a:xfrm>
            <a:off x="1005840" y="1737360"/>
            <a:ext cx="4572000" cy="365760"/>
          </a:xfrm>
          <a:prstGeom prst="rect">
            <a:avLst/>
          </a:prstGeom>
          <a:noFill/>
          <a:ln/>
        </p:spPr>
        <p:txBody>
          <a:bodyPr wrap="square" rtlCol="0" anchor="ctr"/>
          <a:lstStyle/>
          <a:p>
            <a:pPr indent="0" marL="0">
              <a:buNone/>
            </a:pPr>
            <a:r>
              <a:rPr lang="en-US" sz="1400" b="1" dirty="0">
                <a:solidFill>
                  <a:srgbClr val="0284C7"/>
                </a:solidFill>
              </a:rPr>
              <a:t>SOFTWARE STACK &amp; DEPENDENCIES</a:t>
            </a:r>
            <a:endParaRPr lang="en-US" sz="1400" dirty="0"/>
          </a:p>
        </p:txBody>
      </p:sp>
      <p:sp>
        <p:nvSpPr>
          <p:cNvPr id="9" name="Text 7"/>
          <p:cNvSpPr/>
          <p:nvPr/>
        </p:nvSpPr>
        <p:spPr>
          <a:xfrm>
            <a:off x="1005840" y="2194560"/>
            <a:ext cx="4572000" cy="3566160"/>
          </a:xfrm>
          <a:prstGeom prst="rect">
            <a:avLst/>
          </a:prstGeom>
          <a:noFill/>
          <a:ln/>
        </p:spPr>
        <p:txBody>
          <a:bodyPr wrap="square" rtlCol="0" anchor="ctr"/>
          <a:lstStyle/>
          <a:p>
            <a:pPr indent="0" marL="0">
              <a:lnSpc>
                <a:spcPts val="1800"/>
              </a:lnSpc>
              <a:buNone/>
            </a:pPr>
            <a:r>
              <a:rPr lang="en-US" sz="1200" dirty="0">
                <a:solidFill>
                  <a:srgbClr val="334155"/>
                </a:solidFill>
              </a:rPr>
              <a:t>• Frontend: React 19, Vite, Tailwind CSS, Recharts</a:t>
            </a:r>
            <a:endParaRPr lang="en-US" sz="1200" dirty="0"/>
          </a:p>
          <a:p>
            <a:pPr indent="0" marL="0">
              <a:lnSpc>
                <a:spcPts val="1800"/>
              </a:lnSpc>
              <a:buNone/>
            </a:pPr>
            <a:endParaRPr lang="en-US" sz="1200" dirty="0"/>
          </a:p>
          <a:p>
            <a:pPr indent="0" marL="0">
              <a:lnSpc>
                <a:spcPts val="1800"/>
              </a:lnSpc>
              <a:buNone/>
            </a:pPr>
            <a:r>
              <a:rPr lang="en-US" sz="1200" dirty="0">
                <a:solidFill>
                  <a:srgbClr val="334155"/>
                </a:solidFill>
              </a:rPr>
              <a:t>• Backend API: Python 3.10+, FastAPI, Uvicorn</a:t>
            </a:r>
            <a:endParaRPr lang="en-US" sz="1200" dirty="0"/>
          </a:p>
          <a:p>
            <a:pPr indent="0" marL="0">
              <a:lnSpc>
                <a:spcPts val="1800"/>
              </a:lnSpc>
              <a:buNone/>
            </a:pPr>
            <a:endParaRPr lang="en-US" sz="1200" dirty="0"/>
          </a:p>
          <a:p>
            <a:pPr indent="0" marL="0">
              <a:lnSpc>
                <a:spcPts val="1800"/>
              </a:lnSpc>
              <a:buNone/>
            </a:pPr>
            <a:r>
              <a:rPr lang="en-US" sz="1200" dirty="0">
                <a:solidFill>
                  <a:srgbClr val="334155"/>
                </a:solidFill>
              </a:rPr>
              <a:t>• ML &amp; Mathematics: Scikit-Learn, Pandas, NumPy</a:t>
            </a:r>
            <a:endParaRPr lang="en-US" sz="1200" dirty="0"/>
          </a:p>
          <a:p>
            <a:pPr indent="0" marL="0">
              <a:lnSpc>
                <a:spcPts val="1800"/>
              </a:lnSpc>
              <a:buNone/>
            </a:pPr>
            <a:endParaRPr lang="en-US" sz="1200" dirty="0"/>
          </a:p>
          <a:p>
            <a:pPr indent="0" marL="0">
              <a:lnSpc>
                <a:spcPts val="1800"/>
              </a:lnSpc>
              <a:buNone/>
            </a:pPr>
            <a:r>
              <a:rPr lang="en-US" sz="1200" dirty="0">
                <a:solidFill>
                  <a:srgbClr val="334155"/>
                </a:solidFill>
              </a:rPr>
              <a:t>• Database &amp; Storage: PostgreSQL v14+, AWS S3</a:t>
            </a:r>
            <a:endParaRPr lang="en-US" sz="1200" dirty="0"/>
          </a:p>
          <a:p>
            <a:pPr indent="0" marL="0">
              <a:lnSpc>
                <a:spcPts val="1800"/>
              </a:lnSpc>
              <a:buNone/>
            </a:pPr>
            <a:endParaRPr lang="en-US" sz="1200" dirty="0"/>
          </a:p>
          <a:p>
            <a:pPr indent="0" marL="0">
              <a:lnSpc>
                <a:spcPts val="1800"/>
              </a:lnSpc>
              <a:buNone/>
            </a:pPr>
            <a:r>
              <a:rPr lang="en-US" sz="1200" dirty="0">
                <a:solidFill>
                  <a:srgbClr val="334155"/>
                </a:solidFill>
              </a:rPr>
              <a:t>• DevOps &amp; Containerization: Docker, Docker Compose, Nginx Reverse Proxy, AWS Lambda (Dockerfile.lambda)</a:t>
            </a:r>
            <a:endParaRPr lang="en-US" sz="1200" dirty="0"/>
          </a:p>
        </p:txBody>
      </p:sp>
      <p:sp>
        <p:nvSpPr>
          <p:cNvPr id="10" name="Shape 8"/>
          <p:cNvSpPr/>
          <p:nvPr/>
        </p:nvSpPr>
        <p:spPr>
          <a:xfrm>
            <a:off x="6217920" y="1463040"/>
            <a:ext cx="5212080" cy="4572000"/>
          </a:xfrm>
          <a:prstGeom prst="roundRect">
            <a:avLst>
              <a:gd name="adj" fmla="val 1000"/>
            </a:avLst>
          </a:prstGeom>
          <a:solidFill>
            <a:srgbClr val="FFFFFF"/>
          </a:solidFill>
          <a:ln w="25400">
            <a:solidFill>
              <a:srgbClr val="0F172A"/>
            </a:solidFill>
            <a:prstDash val="solid"/>
          </a:ln>
        </p:spPr>
      </p:sp>
      <p:sp>
        <p:nvSpPr>
          <p:cNvPr id="11" name="Text 9"/>
          <p:cNvSpPr/>
          <p:nvPr/>
        </p:nvSpPr>
        <p:spPr>
          <a:xfrm>
            <a:off x="6492240" y="1737360"/>
            <a:ext cx="4572000" cy="365760"/>
          </a:xfrm>
          <a:prstGeom prst="rect">
            <a:avLst/>
          </a:prstGeom>
          <a:noFill/>
          <a:ln/>
        </p:spPr>
        <p:txBody>
          <a:bodyPr wrap="square" rtlCol="0" anchor="ctr"/>
          <a:lstStyle/>
          <a:p>
            <a:pPr indent="0" marL="0">
              <a:buNone/>
            </a:pPr>
            <a:r>
              <a:rPr lang="en-US" sz="1400" b="1" dirty="0">
                <a:solidFill>
                  <a:srgbClr val="0F172A"/>
                </a:solidFill>
              </a:rPr>
              <a:t>HARDWARE SPECIFICATIONS</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92240" y="2194560"/>
          <a:ext cx="4663440" cy="3566160"/>
        </p:xfrm>
        <a:graphic>
          <a:graphicData uri="http://schemas.openxmlformats.org/drawingml/2006/table">
            <a:tbl>
              <a:tblPr/>
              <a:tblGrid>
                <a:gridCol w="1554480"/>
                <a:gridCol w="1463040"/>
                <a:gridCol w="1645920"/>
              </a:tblGrid>
              <a:tr h="713232">
                <a:tc>
                  <a:txBody>
                    <a:bodyPr/>
                    <a:lstStyle/>
                    <a:p>
                      <a:pPr algn="l" indent="0" marL="0">
                        <a:buNone/>
                      </a:pPr>
                      <a:r>
                        <a:rPr lang="en-US" sz="1100" b="1" dirty="0">
                          <a:solidFill>
                            <a:srgbClr val="0F172A"/>
                          </a:solidFill>
                        </a:rPr>
                        <a:t>Component</a:t>
                      </a:r>
                      <a:endParaRPr lang="en-US" sz="11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algn="l" indent="0" marL="0">
                        <a:buNone/>
                      </a:pPr>
                      <a:r>
                        <a:rPr lang="en-US" sz="1100" b="1" dirty="0">
                          <a:solidFill>
                            <a:srgbClr val="0F172A"/>
                          </a:solidFill>
                        </a:rPr>
                        <a:t>Minimum Spec</a:t>
                      </a:r>
                      <a:endParaRPr lang="en-US" sz="11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algn="l" indent="0" marL="0">
                        <a:buNone/>
                      </a:pPr>
                      <a:r>
                        <a:rPr lang="en-US" sz="1100" b="1" dirty="0">
                          <a:solidFill>
                            <a:srgbClr val="0F172A"/>
                          </a:solidFill>
                        </a:rPr>
                        <a:t>Recommended (SOC)</a:t>
                      </a:r>
                      <a:endParaRPr lang="en-US" sz="11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r>
              <a:tr h="713232">
                <a:tc>
                  <a:txBody>
                    <a:bodyPr/>
                    <a:lstStyle/>
                    <a:p>
                      <a:pPr algn="l" indent="0" marL="0">
                        <a:buNone/>
                      </a:pPr>
                      <a:r>
                        <a:rPr lang="en-US" sz="1100" dirty="0">
                          <a:solidFill>
                            <a:srgbClr val="334155"/>
                          </a:solidFill>
                        </a:rPr>
                        <a:t>Processor (CPU)</a:t>
                      </a:r>
                      <a:endParaRPr lang="en-US" sz="11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34155"/>
                          </a:solidFill>
                        </a:rPr>
                        <a:t>4-Core 2.5 GHz</a:t>
                      </a:r>
                      <a:endParaRPr lang="en-US" sz="11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34155"/>
                          </a:solidFill>
                        </a:rPr>
                        <a:t>8-Core 3.5 GHz+</a:t>
                      </a:r>
                      <a:endParaRPr lang="en-US" sz="11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713232">
                <a:tc>
                  <a:txBody>
                    <a:bodyPr/>
                    <a:lstStyle/>
                    <a:p>
                      <a:pPr algn="l" indent="0" marL="0">
                        <a:buNone/>
                      </a:pPr>
                      <a:r>
                        <a:rPr lang="en-US" sz="1100" dirty="0">
                          <a:solidFill>
                            <a:srgbClr val="334155"/>
                          </a:solidFill>
                        </a:rPr>
                        <a:t>Memory (RAM)</a:t>
                      </a:r>
                      <a:endParaRPr lang="en-US" sz="11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34155"/>
                          </a:solidFill>
                        </a:rPr>
                        <a:t>8 GB DDR4</a:t>
                      </a:r>
                      <a:endParaRPr lang="en-US" sz="11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34155"/>
                          </a:solidFill>
                        </a:rPr>
                        <a:t>16 GB - 32 GB DDR4/DDR5</a:t>
                      </a:r>
                      <a:endParaRPr lang="en-US" sz="11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713232">
                <a:tc>
                  <a:txBody>
                    <a:bodyPr/>
                    <a:lstStyle/>
                    <a:p>
                      <a:pPr algn="l" indent="0" marL="0">
                        <a:buNone/>
                      </a:pPr>
                      <a:r>
                        <a:rPr lang="en-US" sz="1100" dirty="0">
                          <a:solidFill>
                            <a:srgbClr val="334155"/>
                          </a:solidFill>
                        </a:rPr>
                        <a:t>Storage</a:t>
                      </a:r>
                      <a:endParaRPr lang="en-US" sz="11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34155"/>
                          </a:solidFill>
                        </a:rPr>
                        <a:t>20 GB SSD</a:t>
                      </a:r>
                      <a:endParaRPr lang="en-US" sz="11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34155"/>
                          </a:solidFill>
                        </a:rPr>
                        <a:t>100 GB+ NVMe SSD</a:t>
                      </a:r>
                      <a:endParaRPr lang="en-US" sz="11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713232">
                <a:tc>
                  <a:txBody>
                    <a:bodyPr/>
                    <a:lstStyle/>
                    <a:p>
                      <a:pPr algn="l" indent="0" marL="0">
                        <a:buNone/>
                      </a:pPr>
                      <a:r>
                        <a:rPr lang="en-US" sz="1100" dirty="0">
                          <a:solidFill>
                            <a:srgbClr val="334155"/>
                          </a:solidFill>
                        </a:rPr>
                        <a:t>Network Card</a:t>
                      </a:r>
                      <a:endParaRPr lang="en-US" sz="11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34155"/>
                          </a:solidFill>
                        </a:rPr>
                        <a:t>1 Gbps NIC</a:t>
                      </a:r>
                      <a:endParaRPr lang="en-US" sz="11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34155"/>
                          </a:solidFill>
                        </a:rPr>
                        <a:t>10 Gbps Dedicated NIC</a:t>
                      </a:r>
                      <a:endParaRPr lang="en-US" sz="11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6400800"/>
            <a:ext cx="10698480" cy="0"/>
          </a:xfrm>
          <a:prstGeom prst="line">
            <a:avLst/>
          </a:prstGeom>
          <a:noFill/>
          <a:ln w="12700">
            <a:solidFill>
              <a:srgbClr val="E2E8F0"/>
            </a:solidFill>
            <a:prstDash val="solid"/>
          </a:ln>
        </p:spPr>
      </p:sp>
      <p:sp>
        <p:nvSpPr>
          <p:cNvPr id="3" name="Text 1"/>
          <p:cNvSpPr/>
          <p:nvPr/>
        </p:nvSpPr>
        <p:spPr>
          <a:xfrm>
            <a:off x="731520" y="6446520"/>
            <a:ext cx="8229600" cy="274320"/>
          </a:xfrm>
          <a:prstGeom prst="rect">
            <a:avLst/>
          </a:prstGeom>
          <a:noFill/>
          <a:ln/>
        </p:spPr>
        <p:txBody>
          <a:bodyPr wrap="square" rtlCol="0" anchor="ctr"/>
          <a:lstStyle/>
          <a:p>
            <a:pPr indent="0" marL="0">
              <a:buNone/>
            </a:pPr>
            <a:r>
              <a:rPr lang="en-US" sz="900" dirty="0">
                <a:solidFill>
                  <a:srgbClr val="64748B"/>
                </a:solidFill>
              </a:rPr>
              <a:t>Intelligent Network Intrusion Detection System (AI-NIDS) | Academic Project Presentation</a:t>
            </a:r>
            <a:endParaRPr lang="en-US" sz="900" dirty="0"/>
          </a:p>
        </p:txBody>
      </p:sp>
      <p:sp>
        <p:nvSpPr>
          <p:cNvPr id="4" name="Text 2"/>
          <p:cNvSpPr/>
          <p:nvPr/>
        </p:nvSpPr>
        <p:spPr>
          <a:xfrm>
            <a:off x="731520" y="320040"/>
            <a:ext cx="10515600" cy="274320"/>
          </a:xfrm>
          <a:prstGeom prst="rect">
            <a:avLst/>
          </a:prstGeom>
          <a:noFill/>
          <a:ln/>
        </p:spPr>
        <p:txBody>
          <a:bodyPr wrap="square" rtlCol="0" anchor="ctr"/>
          <a:lstStyle/>
          <a:p>
            <a:pPr indent="0" marL="0">
              <a:buNone/>
            </a:pPr>
            <a:r>
              <a:rPr lang="en-US" sz="1000" b="1" dirty="0">
                <a:solidFill>
                  <a:srgbClr val="0284C7"/>
                </a:solidFill>
              </a:rPr>
              <a:t>AI-NIDS PROJECT PRESENTATION</a:t>
            </a:r>
            <a:endParaRPr lang="en-US" sz="1000" dirty="0"/>
          </a:p>
        </p:txBody>
      </p:sp>
      <p:sp>
        <p:nvSpPr>
          <p:cNvPr id="5" name="Text 3"/>
          <p:cNvSpPr/>
          <p:nvPr/>
        </p:nvSpPr>
        <p:spPr>
          <a:xfrm>
            <a:off x="731520" y="548640"/>
            <a:ext cx="10515600" cy="548640"/>
          </a:xfrm>
          <a:prstGeom prst="rect">
            <a:avLst/>
          </a:prstGeom>
          <a:noFill/>
          <a:ln/>
        </p:spPr>
        <p:txBody>
          <a:bodyPr wrap="square" rtlCol="0" anchor="ctr"/>
          <a:lstStyle/>
          <a:p>
            <a:pPr indent="0" marL="0">
              <a:buNone/>
            </a:pPr>
            <a:r>
              <a:rPr lang="en-US" sz="2200" b="1" dirty="0">
                <a:solidFill>
                  <a:srgbClr val="0F172A"/>
                </a:solidFill>
              </a:rPr>
              <a:t>Algorithm &amp; Mathematical Formulations</a:t>
            </a:r>
            <a:endParaRPr lang="en-US" sz="2200" dirty="0"/>
          </a:p>
        </p:txBody>
      </p:sp>
      <p:sp>
        <p:nvSpPr>
          <p:cNvPr id="6" name="Shape 4"/>
          <p:cNvSpPr/>
          <p:nvPr/>
        </p:nvSpPr>
        <p:spPr>
          <a:xfrm>
            <a:off x="731520" y="1143000"/>
            <a:ext cx="10698480" cy="0"/>
          </a:xfrm>
          <a:prstGeom prst="line">
            <a:avLst/>
          </a:prstGeom>
          <a:noFill/>
          <a:ln w="19050">
            <a:solidFill>
              <a:srgbClr val="E2E8F0"/>
            </a:solidFill>
            <a:prstDash val="solid"/>
          </a:ln>
        </p:spPr>
      </p:sp>
      <p:sp>
        <p:nvSpPr>
          <p:cNvPr id="7" name="Shape 5"/>
          <p:cNvSpPr/>
          <p:nvPr/>
        </p:nvSpPr>
        <p:spPr>
          <a:xfrm>
            <a:off x="731520" y="1463040"/>
            <a:ext cx="5120640" cy="4572000"/>
          </a:xfrm>
          <a:prstGeom prst="roundRect">
            <a:avLst>
              <a:gd name="adj" fmla="val 1000"/>
            </a:avLst>
          </a:prstGeom>
          <a:solidFill>
            <a:srgbClr val="FFFFFF"/>
          </a:solidFill>
          <a:ln w="25400">
            <a:solidFill>
              <a:srgbClr val="0284C7"/>
            </a:solidFill>
            <a:prstDash val="solid"/>
          </a:ln>
        </p:spPr>
      </p:sp>
      <p:sp>
        <p:nvSpPr>
          <p:cNvPr id="8" name="Text 6"/>
          <p:cNvSpPr/>
          <p:nvPr/>
        </p:nvSpPr>
        <p:spPr>
          <a:xfrm>
            <a:off x="1005840" y="1737360"/>
            <a:ext cx="4572000" cy="365760"/>
          </a:xfrm>
          <a:prstGeom prst="rect">
            <a:avLst/>
          </a:prstGeom>
          <a:noFill/>
          <a:ln/>
        </p:spPr>
        <p:txBody>
          <a:bodyPr wrap="square" rtlCol="0" anchor="ctr"/>
          <a:lstStyle/>
          <a:p>
            <a:pPr indent="0" marL="0">
              <a:buNone/>
            </a:pPr>
            <a:r>
              <a:rPr lang="en-US" sz="1300" b="1" dirty="0">
                <a:solidFill>
                  <a:srgbClr val="0284C7"/>
                </a:solidFill>
              </a:rPr>
              <a:t>ALGORITHM 1: RANDOM FOREST CLASSIFIER</a:t>
            </a:r>
            <a:endParaRPr lang="en-US" sz="1300" dirty="0"/>
          </a:p>
        </p:txBody>
      </p:sp>
      <p:sp>
        <p:nvSpPr>
          <p:cNvPr id="9" name="Text 7"/>
          <p:cNvSpPr/>
          <p:nvPr/>
        </p:nvSpPr>
        <p:spPr>
          <a:xfrm>
            <a:off x="1005840" y="2194560"/>
            <a:ext cx="4572000" cy="3566160"/>
          </a:xfrm>
          <a:prstGeom prst="rect">
            <a:avLst/>
          </a:prstGeom>
          <a:noFill/>
          <a:ln/>
        </p:spPr>
        <p:txBody>
          <a:bodyPr wrap="square" rtlCol="0" anchor="ctr"/>
          <a:lstStyle/>
          <a:p>
            <a:pPr indent="0" marL="0">
              <a:lnSpc>
                <a:spcPts val="1600"/>
              </a:lnSpc>
              <a:buNone/>
            </a:pPr>
            <a:r>
              <a:rPr lang="en-US" sz="1100" dirty="0">
                <a:solidFill>
                  <a:srgbClr val="334155"/>
                </a:solidFill>
              </a:rPr>
              <a:t>1. Ingest normalized flow vector V = {src_port, dest_port, size, entropy, flags}.</a:t>
            </a:r>
            <a:endParaRPr lang="en-US" sz="1100" dirty="0"/>
          </a:p>
          <a:p>
            <a:pPr indent="0" marL="0">
              <a:lnSpc>
                <a:spcPts val="1600"/>
              </a:lnSpc>
              <a:buNone/>
            </a:pPr>
            <a:endParaRPr lang="en-US" sz="1100" dirty="0"/>
          </a:p>
          <a:p>
            <a:pPr indent="0" marL="0">
              <a:lnSpc>
                <a:spcPts val="1600"/>
              </a:lnSpc>
              <a:buNone/>
            </a:pPr>
            <a:r>
              <a:rPr lang="en-US" sz="1100" dirty="0">
                <a:solidFill>
                  <a:srgbClr val="334155"/>
                </a:solidFill>
              </a:rPr>
              <a:t>2. Evaluate vector across N=100 decision trees: y_b = T_b(V).</a:t>
            </a:r>
            <a:endParaRPr lang="en-US" sz="1100" dirty="0"/>
          </a:p>
          <a:p>
            <a:pPr indent="0" marL="0">
              <a:lnSpc>
                <a:spcPts val="1600"/>
              </a:lnSpc>
              <a:buNone/>
            </a:pPr>
            <a:endParaRPr lang="en-US" sz="1100" dirty="0"/>
          </a:p>
          <a:p>
            <a:pPr indent="0" marL="0">
              <a:lnSpc>
                <a:spcPts val="1600"/>
              </a:lnSpc>
              <a:buNone/>
            </a:pPr>
            <a:r>
              <a:rPr lang="en-US" sz="1100" dirty="0">
                <a:solidFill>
                  <a:srgbClr val="334155"/>
                </a:solidFill>
              </a:rPr>
              <a:t>3. Aggregate decision via Majority Voting:</a:t>
            </a:r>
            <a:endParaRPr lang="en-US" sz="1100" dirty="0"/>
          </a:p>
          <a:p>
            <a:pPr indent="0" marL="0">
              <a:lnSpc>
                <a:spcPts val="1600"/>
              </a:lnSpc>
              <a:buNone/>
            </a:pPr>
            <a:endParaRPr lang="en-US" sz="1100" dirty="0"/>
          </a:p>
          <a:p>
            <a:pPr indent="0" marL="0">
              <a:lnSpc>
                <a:spcPts val="1600"/>
              </a:lnSpc>
              <a:buNone/>
            </a:pPr>
            <a:r>
              <a:rPr lang="en-US" sz="1100" dirty="0">
                <a:solidFill>
                  <a:srgbClr val="334155"/>
                </a:solidFill>
              </a:rPr>
              <a:t>   Y_pred = mode( {y_1, y_2, ..., y_N} )</a:t>
            </a:r>
            <a:endParaRPr lang="en-US" sz="1100" dirty="0"/>
          </a:p>
          <a:p>
            <a:pPr indent="0" marL="0">
              <a:lnSpc>
                <a:spcPts val="1600"/>
              </a:lnSpc>
              <a:buNone/>
            </a:pPr>
            <a:endParaRPr lang="en-US" sz="1100" dirty="0"/>
          </a:p>
          <a:p>
            <a:pPr indent="0" marL="0">
              <a:lnSpc>
                <a:spcPts val="1600"/>
              </a:lnSpc>
              <a:buNone/>
            </a:pPr>
            <a:r>
              <a:rPr lang="en-US" sz="1100" dirty="0">
                <a:solidFill>
                  <a:srgbClr val="334155"/>
                </a:solidFill>
              </a:rPr>
              <a:t>4. Calculate Confidence Threat Score (0-100%):</a:t>
            </a:r>
            <a:endParaRPr lang="en-US" sz="1100" dirty="0"/>
          </a:p>
          <a:p>
            <a:pPr indent="0" marL="0">
              <a:lnSpc>
                <a:spcPts val="1600"/>
              </a:lnSpc>
              <a:buNone/>
            </a:pPr>
            <a:endParaRPr lang="en-US" sz="1100" dirty="0"/>
          </a:p>
          <a:p>
            <a:pPr indent="0" marL="0">
              <a:lnSpc>
                <a:spcPts val="1600"/>
              </a:lnSpc>
              <a:buNone/>
            </a:pPr>
            <a:r>
              <a:rPr lang="en-US" sz="1100" dirty="0">
                <a:solidFill>
                  <a:srgbClr val="334155"/>
                </a:solidFill>
              </a:rPr>
              <a:t>   Score = (Count of Malicious Votes / N) * 100%</a:t>
            </a:r>
            <a:endParaRPr lang="en-US" sz="1100" dirty="0"/>
          </a:p>
        </p:txBody>
      </p:sp>
      <p:sp>
        <p:nvSpPr>
          <p:cNvPr id="10" name="Shape 8"/>
          <p:cNvSpPr/>
          <p:nvPr/>
        </p:nvSpPr>
        <p:spPr>
          <a:xfrm>
            <a:off x="6217920" y="1463040"/>
            <a:ext cx="5212080" cy="4572000"/>
          </a:xfrm>
          <a:prstGeom prst="roundRect">
            <a:avLst>
              <a:gd name="adj" fmla="val 1000"/>
            </a:avLst>
          </a:prstGeom>
          <a:solidFill>
            <a:srgbClr val="FFFFFF"/>
          </a:solidFill>
          <a:ln w="25400">
            <a:solidFill>
              <a:srgbClr val="DC2626"/>
            </a:solidFill>
            <a:prstDash val="solid"/>
          </a:ln>
        </p:spPr>
      </p:sp>
      <p:sp>
        <p:nvSpPr>
          <p:cNvPr id="11" name="Text 9"/>
          <p:cNvSpPr/>
          <p:nvPr/>
        </p:nvSpPr>
        <p:spPr>
          <a:xfrm>
            <a:off x="6492240" y="1737360"/>
            <a:ext cx="4572000" cy="365760"/>
          </a:xfrm>
          <a:prstGeom prst="rect">
            <a:avLst/>
          </a:prstGeom>
          <a:noFill/>
          <a:ln/>
        </p:spPr>
        <p:txBody>
          <a:bodyPr wrap="square" rtlCol="0" anchor="ctr"/>
          <a:lstStyle/>
          <a:p>
            <a:pPr indent="0" marL="0">
              <a:buNone/>
            </a:pPr>
            <a:r>
              <a:rPr lang="en-US" sz="1300" b="1" dirty="0">
                <a:solidFill>
                  <a:srgbClr val="DC2626"/>
                </a:solidFill>
              </a:rPr>
              <a:t>ALGORITHM 2: SHANNON ENTROPY ANOMALY ENGINE</a:t>
            </a:r>
            <a:endParaRPr lang="en-US" sz="1300" dirty="0"/>
          </a:p>
        </p:txBody>
      </p:sp>
      <p:sp>
        <p:nvSpPr>
          <p:cNvPr id="12" name="Text 10"/>
          <p:cNvSpPr/>
          <p:nvPr/>
        </p:nvSpPr>
        <p:spPr>
          <a:xfrm>
            <a:off x="6492240" y="2194560"/>
            <a:ext cx="4663440" cy="3566160"/>
          </a:xfrm>
          <a:prstGeom prst="rect">
            <a:avLst/>
          </a:prstGeom>
          <a:noFill/>
          <a:ln/>
        </p:spPr>
        <p:txBody>
          <a:bodyPr wrap="square" rtlCol="0" anchor="ctr"/>
          <a:lstStyle/>
          <a:p>
            <a:pPr indent="0" marL="0">
              <a:lnSpc>
                <a:spcPts val="1600"/>
              </a:lnSpc>
              <a:buNone/>
            </a:pPr>
            <a:r>
              <a:rPr lang="en-US" sz="1100" dirty="0">
                <a:solidFill>
                  <a:srgbClr val="334155"/>
                </a:solidFill>
              </a:rPr>
              <a:t>Mathematical Information Entropy Formula:</a:t>
            </a:r>
            <a:endParaRPr lang="en-US" sz="1100" dirty="0"/>
          </a:p>
          <a:p>
            <a:pPr indent="0" marL="0">
              <a:lnSpc>
                <a:spcPts val="1600"/>
              </a:lnSpc>
              <a:buNone/>
            </a:pPr>
            <a:r>
              <a:rPr lang="en-US" sz="1100" dirty="0">
                <a:solidFill>
                  <a:srgbClr val="334155"/>
                </a:solidFill>
              </a:rPr>
              <a:t>   H(X) = - sum( P(x_i) * log2 P(x_i) )</a:t>
            </a:r>
            <a:endParaRPr lang="en-US" sz="1100" dirty="0"/>
          </a:p>
          <a:p>
            <a:pPr indent="0" marL="0">
              <a:lnSpc>
                <a:spcPts val="1600"/>
              </a:lnSpc>
              <a:buNone/>
            </a:pPr>
            <a:endParaRPr lang="en-US" sz="1100" dirty="0"/>
          </a:p>
          <a:p>
            <a:pPr indent="0" marL="0">
              <a:lnSpc>
                <a:spcPts val="1600"/>
              </a:lnSpc>
              <a:buNone/>
            </a:pPr>
            <a:r>
              <a:rPr lang="en-US" sz="1100" dirty="0">
                <a:solidFill>
                  <a:srgbClr val="334155"/>
                </a:solidFill>
              </a:rPr>
              <a:t>Multi-Stage Threshold Rules:</a:t>
            </a:r>
            <a:endParaRPr lang="en-US" sz="1100" dirty="0"/>
          </a:p>
          <a:p>
            <a:pPr indent="0" marL="0">
              <a:lnSpc>
                <a:spcPts val="1600"/>
              </a:lnSpc>
              <a:buNone/>
            </a:pPr>
            <a:r>
              <a:rPr lang="en-US" sz="1100" dirty="0">
                <a:solidFill>
                  <a:srgbClr val="334155"/>
                </a:solidFill>
              </a:rPr>
              <a:t>• DGA Hostname Detection: Entropy &gt; 3.8 flags pseudo-random botnet domains (e.g. x89qzk19mva.biz).</a:t>
            </a:r>
            <a:endParaRPr lang="en-US" sz="1100" dirty="0"/>
          </a:p>
          <a:p>
            <a:pPr indent="0" marL="0">
              <a:lnSpc>
                <a:spcPts val="1600"/>
              </a:lnSpc>
              <a:buNone/>
            </a:pPr>
            <a:r>
              <a:rPr lang="en-US" sz="1100" dirty="0">
                <a:solidFill>
                  <a:srgbClr val="334155"/>
                </a:solidFill>
              </a:rPr>
              <a:t>• Packed File Detection: Binary Entropy &gt; 5.3 flags encrypted malware droppers.</a:t>
            </a:r>
            <a:endParaRPr lang="en-US" sz="1100" dirty="0"/>
          </a:p>
          <a:p>
            <a:pPr indent="0" marL="0">
              <a:lnSpc>
                <a:spcPts val="1600"/>
              </a:lnSpc>
              <a:buNone/>
            </a:pPr>
            <a:r>
              <a:rPr lang="en-US" sz="1100" dirty="0">
                <a:solidFill>
                  <a:srgbClr val="334155"/>
                </a:solidFill>
              </a:rPr>
              <a:t>• Zero-Day Defense: Detects unknown threats without signature database updates.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6400800"/>
            <a:ext cx="10698480" cy="0"/>
          </a:xfrm>
          <a:prstGeom prst="line">
            <a:avLst/>
          </a:prstGeom>
          <a:noFill/>
          <a:ln w="12700">
            <a:solidFill>
              <a:srgbClr val="E2E8F0"/>
            </a:solidFill>
            <a:prstDash val="solid"/>
          </a:ln>
        </p:spPr>
      </p:sp>
      <p:sp>
        <p:nvSpPr>
          <p:cNvPr id="3" name="Text 1"/>
          <p:cNvSpPr/>
          <p:nvPr/>
        </p:nvSpPr>
        <p:spPr>
          <a:xfrm>
            <a:off x="731520" y="6446520"/>
            <a:ext cx="8229600" cy="274320"/>
          </a:xfrm>
          <a:prstGeom prst="rect">
            <a:avLst/>
          </a:prstGeom>
          <a:noFill/>
          <a:ln/>
        </p:spPr>
        <p:txBody>
          <a:bodyPr wrap="square" rtlCol="0" anchor="ctr"/>
          <a:lstStyle/>
          <a:p>
            <a:pPr indent="0" marL="0">
              <a:buNone/>
            </a:pPr>
            <a:r>
              <a:rPr lang="en-US" sz="900" dirty="0">
                <a:solidFill>
                  <a:srgbClr val="64748B"/>
                </a:solidFill>
              </a:rPr>
              <a:t>Intelligent Network Intrusion Detection System (AI-NIDS) | Academic Project Presentation</a:t>
            </a:r>
            <a:endParaRPr lang="en-US" sz="900" dirty="0"/>
          </a:p>
        </p:txBody>
      </p:sp>
      <p:sp>
        <p:nvSpPr>
          <p:cNvPr id="4" name="Text 2"/>
          <p:cNvSpPr/>
          <p:nvPr/>
        </p:nvSpPr>
        <p:spPr>
          <a:xfrm>
            <a:off x="731520" y="320040"/>
            <a:ext cx="10515600" cy="274320"/>
          </a:xfrm>
          <a:prstGeom prst="rect">
            <a:avLst/>
          </a:prstGeom>
          <a:noFill/>
          <a:ln/>
        </p:spPr>
        <p:txBody>
          <a:bodyPr wrap="square" rtlCol="0" anchor="ctr"/>
          <a:lstStyle/>
          <a:p>
            <a:pPr indent="0" marL="0">
              <a:buNone/>
            </a:pPr>
            <a:r>
              <a:rPr lang="en-US" sz="1000" b="1" dirty="0">
                <a:solidFill>
                  <a:srgbClr val="0284C7"/>
                </a:solidFill>
              </a:rPr>
              <a:t>AI-NIDS PROJECT PRESENTATION</a:t>
            </a:r>
            <a:endParaRPr lang="en-US" sz="1000" dirty="0"/>
          </a:p>
        </p:txBody>
      </p:sp>
      <p:sp>
        <p:nvSpPr>
          <p:cNvPr id="5" name="Text 3"/>
          <p:cNvSpPr/>
          <p:nvPr/>
        </p:nvSpPr>
        <p:spPr>
          <a:xfrm>
            <a:off x="731520" y="548640"/>
            <a:ext cx="10515600" cy="548640"/>
          </a:xfrm>
          <a:prstGeom prst="rect">
            <a:avLst/>
          </a:prstGeom>
          <a:noFill/>
          <a:ln/>
        </p:spPr>
        <p:txBody>
          <a:bodyPr wrap="square" rtlCol="0" anchor="ctr"/>
          <a:lstStyle/>
          <a:p>
            <a:pPr indent="0" marL="0">
              <a:buNone/>
            </a:pPr>
            <a:r>
              <a:rPr lang="en-US" sz="2200" b="1" dirty="0">
                <a:solidFill>
                  <a:srgbClr val="0F172A"/>
                </a:solidFill>
              </a:rPr>
              <a:t>System Screenshots &amp; SOC UI Walkthrough</a:t>
            </a:r>
            <a:endParaRPr lang="en-US" sz="2200" dirty="0"/>
          </a:p>
        </p:txBody>
      </p:sp>
      <p:sp>
        <p:nvSpPr>
          <p:cNvPr id="6" name="Shape 4"/>
          <p:cNvSpPr/>
          <p:nvPr/>
        </p:nvSpPr>
        <p:spPr>
          <a:xfrm>
            <a:off x="731520" y="1143000"/>
            <a:ext cx="10698480" cy="0"/>
          </a:xfrm>
          <a:prstGeom prst="line">
            <a:avLst/>
          </a:prstGeom>
          <a:noFill/>
          <a:ln w="19050">
            <a:solidFill>
              <a:srgbClr val="E2E8F0"/>
            </a:solidFill>
            <a:prstDash val="solid"/>
          </a:ln>
        </p:spPr>
      </p:sp>
      <p:sp>
        <p:nvSpPr>
          <p:cNvPr id="7" name="Shape 5"/>
          <p:cNvSpPr/>
          <p:nvPr/>
        </p:nvSpPr>
        <p:spPr>
          <a:xfrm>
            <a:off x="731520" y="1463040"/>
            <a:ext cx="10698480" cy="4572000"/>
          </a:xfrm>
          <a:prstGeom prst="roundRect">
            <a:avLst>
              <a:gd name="adj" fmla="val 1000"/>
            </a:avLst>
          </a:prstGeom>
          <a:solidFill>
            <a:srgbClr val="FFFFFF"/>
          </a:solidFill>
          <a:ln w="25400">
            <a:solidFill>
              <a:srgbClr val="0F172A"/>
            </a:solidFill>
            <a:prstDash val="solid"/>
          </a:ln>
        </p:spPr>
      </p:sp>
      <p:sp>
        <p:nvSpPr>
          <p:cNvPr id="8" name="Text 6"/>
          <p:cNvSpPr/>
          <p:nvPr/>
        </p:nvSpPr>
        <p:spPr>
          <a:xfrm>
            <a:off x="1005840" y="1691640"/>
            <a:ext cx="10058400" cy="320040"/>
          </a:xfrm>
          <a:prstGeom prst="rect">
            <a:avLst/>
          </a:prstGeom>
          <a:noFill/>
          <a:ln/>
        </p:spPr>
        <p:txBody>
          <a:bodyPr wrap="square" rtlCol="0" anchor="ctr"/>
          <a:lstStyle/>
          <a:p>
            <a:pPr indent="0" marL="0">
              <a:buNone/>
            </a:pPr>
            <a:r>
              <a:rPr lang="en-US" sz="1400" b="1" dirty="0">
                <a:solidFill>
                  <a:srgbClr val="0F172A"/>
                </a:solidFill>
              </a:rPr>
              <a:t>INTERACTIVE SECURITY OPERATIONS CENTER (SOC) DASHBOARD</a:t>
            </a:r>
            <a:endParaRPr lang="en-US" sz="1400" dirty="0"/>
          </a:p>
        </p:txBody>
      </p:sp>
      <p:sp>
        <p:nvSpPr>
          <p:cNvPr id="9" name="Shape 7"/>
          <p:cNvSpPr/>
          <p:nvPr/>
        </p:nvSpPr>
        <p:spPr>
          <a:xfrm>
            <a:off x="1005840" y="2103120"/>
            <a:ext cx="5029200" cy="1097280"/>
          </a:xfrm>
          <a:prstGeom prst="roundRect">
            <a:avLst>
              <a:gd name="adj" fmla="val 4167"/>
            </a:avLst>
          </a:prstGeom>
          <a:solidFill>
            <a:srgbClr val="F8FAFC"/>
          </a:solidFill>
          <a:ln w="19050">
            <a:solidFill>
              <a:srgbClr val="0284C7"/>
            </a:solidFill>
            <a:prstDash val="solid"/>
          </a:ln>
        </p:spPr>
      </p:sp>
      <p:sp>
        <p:nvSpPr>
          <p:cNvPr id="10" name="Text 8"/>
          <p:cNvSpPr/>
          <p:nvPr/>
        </p:nvSpPr>
        <p:spPr>
          <a:xfrm>
            <a:off x="1188720" y="2240280"/>
            <a:ext cx="4663440" cy="274320"/>
          </a:xfrm>
          <a:prstGeom prst="rect">
            <a:avLst/>
          </a:prstGeom>
          <a:noFill/>
          <a:ln/>
        </p:spPr>
        <p:txBody>
          <a:bodyPr wrap="square" rtlCol="0" anchor="ctr"/>
          <a:lstStyle/>
          <a:p>
            <a:pPr indent="0" marL="0">
              <a:buNone/>
            </a:pPr>
            <a:r>
              <a:rPr lang="en-US" sz="1200" b="1" dirty="0">
                <a:solidFill>
                  <a:srgbClr val="0284C7"/>
                </a:solidFill>
              </a:rPr>
              <a:t>Telemetry KPI Bar</a:t>
            </a:r>
            <a:endParaRPr lang="en-US" sz="1200" dirty="0"/>
          </a:p>
        </p:txBody>
      </p:sp>
      <p:sp>
        <p:nvSpPr>
          <p:cNvPr id="11" name="Text 9"/>
          <p:cNvSpPr/>
          <p:nvPr/>
        </p:nvSpPr>
        <p:spPr>
          <a:xfrm>
            <a:off x="1188720" y="2514600"/>
            <a:ext cx="4663440" cy="594360"/>
          </a:xfrm>
          <a:prstGeom prst="rect">
            <a:avLst/>
          </a:prstGeom>
          <a:noFill/>
          <a:ln/>
        </p:spPr>
        <p:txBody>
          <a:bodyPr wrap="square" rtlCol="0" anchor="ctr"/>
          <a:lstStyle/>
          <a:p>
            <a:pPr indent="0" marL="0">
              <a:buNone/>
            </a:pPr>
            <a:r>
              <a:rPr lang="en-US" sz="1000" dirty="0">
                <a:solidFill>
                  <a:srgbClr val="334155"/>
                </a:solidFill>
              </a:rPr>
              <a:t>Live cards displaying Active Flows (1,420/s), Threat Ratio (4.2%), and Quarantined Payloads (18).</a:t>
            </a:r>
            <a:endParaRPr lang="en-US" sz="1000" dirty="0"/>
          </a:p>
        </p:txBody>
      </p:sp>
      <p:sp>
        <p:nvSpPr>
          <p:cNvPr id="12" name="Shape 10"/>
          <p:cNvSpPr/>
          <p:nvPr/>
        </p:nvSpPr>
        <p:spPr>
          <a:xfrm>
            <a:off x="6217920" y="2103120"/>
            <a:ext cx="4846320" cy="1097280"/>
          </a:xfrm>
          <a:prstGeom prst="roundRect">
            <a:avLst>
              <a:gd name="adj" fmla="val 4167"/>
            </a:avLst>
          </a:prstGeom>
          <a:solidFill>
            <a:srgbClr val="F8FAFC"/>
          </a:solidFill>
          <a:ln w="19050">
            <a:solidFill>
              <a:srgbClr val="0F172A"/>
            </a:solidFill>
            <a:prstDash val="solid"/>
          </a:ln>
        </p:spPr>
      </p:sp>
      <p:sp>
        <p:nvSpPr>
          <p:cNvPr id="13" name="Text 11"/>
          <p:cNvSpPr/>
          <p:nvPr/>
        </p:nvSpPr>
        <p:spPr>
          <a:xfrm>
            <a:off x="6400800" y="2240280"/>
            <a:ext cx="4480560" cy="274320"/>
          </a:xfrm>
          <a:prstGeom prst="rect">
            <a:avLst/>
          </a:prstGeom>
          <a:noFill/>
          <a:ln/>
        </p:spPr>
        <p:txBody>
          <a:bodyPr wrap="square" rtlCol="0" anchor="ctr"/>
          <a:lstStyle/>
          <a:p>
            <a:pPr indent="0" marL="0">
              <a:buNone/>
            </a:pPr>
            <a:r>
              <a:rPr lang="en-US" sz="1200" b="1" dirty="0">
                <a:solidFill>
                  <a:srgbClr val="0F172A"/>
                </a:solidFill>
              </a:rPr>
              <a:t>Recharts Telemetry Chart</a:t>
            </a:r>
            <a:endParaRPr lang="en-US" sz="1200" dirty="0"/>
          </a:p>
        </p:txBody>
      </p:sp>
      <p:sp>
        <p:nvSpPr>
          <p:cNvPr id="14" name="Text 12"/>
          <p:cNvSpPr/>
          <p:nvPr/>
        </p:nvSpPr>
        <p:spPr>
          <a:xfrm>
            <a:off x="6400800" y="2514600"/>
            <a:ext cx="4480560" cy="594360"/>
          </a:xfrm>
          <a:prstGeom prst="rect">
            <a:avLst/>
          </a:prstGeom>
          <a:noFill/>
          <a:ln/>
        </p:spPr>
        <p:txBody>
          <a:bodyPr wrap="square" rtlCol="0" anchor="ctr"/>
          <a:lstStyle/>
          <a:p>
            <a:pPr indent="0" marL="0">
              <a:buNone/>
            </a:pPr>
            <a:r>
              <a:rPr lang="en-US" sz="1000" dirty="0">
                <a:solidFill>
                  <a:srgbClr val="334155"/>
                </a:solidFill>
              </a:rPr>
              <a:t>Real-time time-series visual rendering bandwidth usage spikes and attack volume distributions.</a:t>
            </a:r>
            <a:endParaRPr lang="en-US" sz="1000" dirty="0"/>
          </a:p>
        </p:txBody>
      </p:sp>
      <p:sp>
        <p:nvSpPr>
          <p:cNvPr id="15" name="Shape 13"/>
          <p:cNvSpPr/>
          <p:nvPr/>
        </p:nvSpPr>
        <p:spPr>
          <a:xfrm>
            <a:off x="1005840" y="3383280"/>
            <a:ext cx="5029200" cy="2377440"/>
          </a:xfrm>
          <a:prstGeom prst="roundRect">
            <a:avLst>
              <a:gd name="adj" fmla="val 1923"/>
            </a:avLst>
          </a:prstGeom>
          <a:solidFill>
            <a:srgbClr val="F8FAFC"/>
          </a:solidFill>
          <a:ln w="19050">
            <a:solidFill>
              <a:srgbClr val="DC2626"/>
            </a:solidFill>
            <a:prstDash val="solid"/>
          </a:ln>
        </p:spPr>
      </p:sp>
      <p:sp>
        <p:nvSpPr>
          <p:cNvPr id="16" name="Text 14"/>
          <p:cNvSpPr/>
          <p:nvPr/>
        </p:nvSpPr>
        <p:spPr>
          <a:xfrm>
            <a:off x="1188720" y="3520440"/>
            <a:ext cx="4663440" cy="274320"/>
          </a:xfrm>
          <a:prstGeom prst="rect">
            <a:avLst/>
          </a:prstGeom>
          <a:noFill/>
          <a:ln/>
        </p:spPr>
        <p:txBody>
          <a:bodyPr wrap="square" rtlCol="0" anchor="ctr"/>
          <a:lstStyle/>
          <a:p>
            <a:pPr indent="0" marL="0">
              <a:buNone/>
            </a:pPr>
            <a:r>
              <a:rPr lang="en-US" sz="1200" b="1" dirty="0">
                <a:solidFill>
                  <a:srgbClr val="DC2626"/>
                </a:solidFill>
              </a:rPr>
              <a:t>Threat Feed Alert Table</a:t>
            </a:r>
            <a:endParaRPr lang="en-US" sz="1200" dirty="0"/>
          </a:p>
        </p:txBody>
      </p:sp>
      <p:sp>
        <p:nvSpPr>
          <p:cNvPr id="17" name="Text 15"/>
          <p:cNvSpPr/>
          <p:nvPr/>
        </p:nvSpPr>
        <p:spPr>
          <a:xfrm>
            <a:off x="1188720" y="3794760"/>
            <a:ext cx="4663440" cy="1874520"/>
          </a:xfrm>
          <a:prstGeom prst="rect">
            <a:avLst/>
          </a:prstGeom>
          <a:noFill/>
          <a:ln/>
        </p:spPr>
        <p:txBody>
          <a:bodyPr wrap="square" rtlCol="0" anchor="ctr"/>
          <a:lstStyle/>
          <a:p>
            <a:pPr indent="0" marL="0">
              <a:buNone/>
            </a:pPr>
            <a:r>
              <a:rPr lang="en-US" sz="1000" dirty="0">
                <a:solidFill>
                  <a:srgbClr val="334155"/>
                </a:solidFill>
              </a:rPr>
              <a:t>Filterable alert log showing origin IP badges, severity tags, and 1-click Firewall Block action buttons.</a:t>
            </a:r>
            <a:endParaRPr lang="en-US" sz="1000" dirty="0"/>
          </a:p>
        </p:txBody>
      </p:sp>
      <p:sp>
        <p:nvSpPr>
          <p:cNvPr id="18" name="Shape 16"/>
          <p:cNvSpPr/>
          <p:nvPr/>
        </p:nvSpPr>
        <p:spPr>
          <a:xfrm>
            <a:off x="6217920" y="3383280"/>
            <a:ext cx="4846320" cy="2377440"/>
          </a:xfrm>
          <a:prstGeom prst="roundRect">
            <a:avLst>
              <a:gd name="adj" fmla="val 1923"/>
            </a:avLst>
          </a:prstGeom>
          <a:solidFill>
            <a:srgbClr val="F8FAFC"/>
          </a:solidFill>
          <a:ln w="19050">
            <a:solidFill>
              <a:srgbClr val="D97706"/>
            </a:solidFill>
            <a:prstDash val="solid"/>
          </a:ln>
        </p:spPr>
      </p:sp>
      <p:sp>
        <p:nvSpPr>
          <p:cNvPr id="19" name="Text 17"/>
          <p:cNvSpPr/>
          <p:nvPr/>
        </p:nvSpPr>
        <p:spPr>
          <a:xfrm>
            <a:off x="6400800" y="3520440"/>
            <a:ext cx="4480560" cy="274320"/>
          </a:xfrm>
          <a:prstGeom prst="rect">
            <a:avLst/>
          </a:prstGeom>
          <a:noFill/>
          <a:ln/>
        </p:spPr>
        <p:txBody>
          <a:bodyPr wrap="square" rtlCol="0" anchor="ctr"/>
          <a:lstStyle/>
          <a:p>
            <a:pPr indent="0" marL="0">
              <a:buNone/>
            </a:pPr>
            <a:r>
              <a:rPr lang="en-US" sz="1200" b="1" dirty="0">
                <a:solidFill>
                  <a:srgbClr val="D97706"/>
                </a:solidFill>
              </a:rPr>
              <a:t>Live Attack Simulator Controls</a:t>
            </a:r>
            <a:endParaRPr lang="en-US" sz="1200" dirty="0"/>
          </a:p>
        </p:txBody>
      </p:sp>
      <p:sp>
        <p:nvSpPr>
          <p:cNvPr id="20" name="Text 18"/>
          <p:cNvSpPr/>
          <p:nvPr/>
        </p:nvSpPr>
        <p:spPr>
          <a:xfrm>
            <a:off x="6400800" y="3794760"/>
            <a:ext cx="4480560" cy="1874520"/>
          </a:xfrm>
          <a:prstGeom prst="rect">
            <a:avLst/>
          </a:prstGeom>
          <a:noFill/>
          <a:ln/>
        </p:spPr>
        <p:txBody>
          <a:bodyPr wrap="square" rtlCol="0" anchor="ctr"/>
          <a:lstStyle/>
          <a:p>
            <a:pPr indent="0" marL="0">
              <a:buNone/>
            </a:pPr>
            <a:r>
              <a:rPr lang="en-US" sz="1000" dirty="0">
                <a:solidFill>
                  <a:srgbClr val="334155"/>
                </a:solidFill>
              </a:rPr>
              <a:t>In-browser controls enabling analysts to inject synthetic DDoS, Port Scan, and SQLi attack vectors live.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6400800"/>
            <a:ext cx="10698480" cy="0"/>
          </a:xfrm>
          <a:prstGeom prst="line">
            <a:avLst/>
          </a:prstGeom>
          <a:noFill/>
          <a:ln w="12700">
            <a:solidFill>
              <a:srgbClr val="E2E8F0"/>
            </a:solidFill>
            <a:prstDash val="solid"/>
          </a:ln>
        </p:spPr>
      </p:sp>
      <p:sp>
        <p:nvSpPr>
          <p:cNvPr id="3" name="Text 1"/>
          <p:cNvSpPr/>
          <p:nvPr/>
        </p:nvSpPr>
        <p:spPr>
          <a:xfrm>
            <a:off x="731520" y="6446520"/>
            <a:ext cx="8229600" cy="274320"/>
          </a:xfrm>
          <a:prstGeom prst="rect">
            <a:avLst/>
          </a:prstGeom>
          <a:noFill/>
          <a:ln/>
        </p:spPr>
        <p:txBody>
          <a:bodyPr wrap="square" rtlCol="0" anchor="ctr"/>
          <a:lstStyle/>
          <a:p>
            <a:pPr indent="0" marL="0">
              <a:buNone/>
            </a:pPr>
            <a:r>
              <a:rPr lang="en-US" sz="900" dirty="0">
                <a:solidFill>
                  <a:srgbClr val="64748B"/>
                </a:solidFill>
              </a:rPr>
              <a:t>Intelligent Network Intrusion Detection System (AI-NIDS) | Academic Project Presentation</a:t>
            </a:r>
            <a:endParaRPr lang="en-US" sz="900" dirty="0"/>
          </a:p>
        </p:txBody>
      </p:sp>
      <p:sp>
        <p:nvSpPr>
          <p:cNvPr id="4" name="Text 2"/>
          <p:cNvSpPr/>
          <p:nvPr/>
        </p:nvSpPr>
        <p:spPr>
          <a:xfrm>
            <a:off x="731520" y="320040"/>
            <a:ext cx="10515600" cy="274320"/>
          </a:xfrm>
          <a:prstGeom prst="rect">
            <a:avLst/>
          </a:prstGeom>
          <a:noFill/>
          <a:ln/>
        </p:spPr>
        <p:txBody>
          <a:bodyPr wrap="square" rtlCol="0" anchor="ctr"/>
          <a:lstStyle/>
          <a:p>
            <a:pPr indent="0" marL="0">
              <a:buNone/>
            </a:pPr>
            <a:r>
              <a:rPr lang="en-US" sz="1000" b="1" dirty="0">
                <a:solidFill>
                  <a:srgbClr val="0284C7"/>
                </a:solidFill>
              </a:rPr>
              <a:t>AI-NIDS PROJECT PRESENTATION</a:t>
            </a:r>
            <a:endParaRPr lang="en-US" sz="1000" dirty="0"/>
          </a:p>
        </p:txBody>
      </p:sp>
      <p:sp>
        <p:nvSpPr>
          <p:cNvPr id="5" name="Text 3"/>
          <p:cNvSpPr/>
          <p:nvPr/>
        </p:nvSpPr>
        <p:spPr>
          <a:xfrm>
            <a:off x="731520" y="548640"/>
            <a:ext cx="10515600" cy="548640"/>
          </a:xfrm>
          <a:prstGeom prst="rect">
            <a:avLst/>
          </a:prstGeom>
          <a:noFill/>
          <a:ln/>
        </p:spPr>
        <p:txBody>
          <a:bodyPr wrap="square" rtlCol="0" anchor="ctr"/>
          <a:lstStyle/>
          <a:p>
            <a:pPr indent="0" marL="0">
              <a:buNone/>
            </a:pPr>
            <a:r>
              <a:rPr lang="en-US" sz="2200" b="1" dirty="0">
                <a:solidFill>
                  <a:srgbClr val="0F172A"/>
                </a:solidFill>
              </a:rPr>
              <a:t>Experimental Evaluation &amp; Performance Metrics</a:t>
            </a:r>
            <a:endParaRPr lang="en-US" sz="2200" dirty="0"/>
          </a:p>
        </p:txBody>
      </p:sp>
      <p:sp>
        <p:nvSpPr>
          <p:cNvPr id="6" name="Shape 4"/>
          <p:cNvSpPr/>
          <p:nvPr/>
        </p:nvSpPr>
        <p:spPr>
          <a:xfrm>
            <a:off x="731520" y="1143000"/>
            <a:ext cx="10698480" cy="0"/>
          </a:xfrm>
          <a:prstGeom prst="line">
            <a:avLst/>
          </a:prstGeom>
          <a:noFill/>
          <a:ln w="19050">
            <a:solidFill>
              <a:srgbClr val="E2E8F0"/>
            </a:solidFill>
            <a:prstDash val="solid"/>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31520" y="1463040"/>
          <a:ext cx="10698480" cy="4572000"/>
        </p:xfrm>
        <a:graphic>
          <a:graphicData uri="http://schemas.openxmlformats.org/drawingml/2006/table">
            <a:tbl>
              <a:tblPr/>
              <a:tblGrid>
                <a:gridCol w="3200400"/>
                <a:gridCol w="1828800"/>
                <a:gridCol w="1828800"/>
                <a:gridCol w="1828800"/>
                <a:gridCol w="2011680"/>
              </a:tblGrid>
              <a:tr h="653143">
                <a:tc>
                  <a:txBody>
                    <a:bodyPr/>
                    <a:lstStyle/>
                    <a:p>
                      <a:pPr algn="ctr" indent="0" marL="0">
                        <a:buNone/>
                      </a:pPr>
                      <a:r>
                        <a:rPr lang="en-US" sz="1200" b="1" dirty="0">
                          <a:solidFill>
                            <a:srgbClr val="0F172A"/>
                          </a:solidFill>
                        </a:rPr>
                        <a:t>Attack Category</a:t>
                      </a:r>
                      <a:endParaRPr lang="en-US" sz="12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200" b="1" dirty="0">
                          <a:solidFill>
                            <a:srgbClr val="0F172A"/>
                          </a:solidFill>
                        </a:rPr>
                        <a:t>Precision</a:t>
                      </a:r>
                      <a:endParaRPr lang="en-US" sz="12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200" b="1" dirty="0">
                          <a:solidFill>
                            <a:srgbClr val="0F172A"/>
                          </a:solidFill>
                        </a:rPr>
                        <a:t>Recall</a:t>
                      </a:r>
                      <a:endParaRPr lang="en-US" sz="12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200" b="1" dirty="0">
                          <a:solidFill>
                            <a:srgbClr val="0F172A"/>
                          </a:solidFill>
                        </a:rPr>
                        <a:t>F1-Score</a:t>
                      </a:r>
                      <a:endParaRPr lang="en-US" sz="12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200" b="1" dirty="0">
                          <a:solidFill>
                            <a:srgbClr val="0F172A"/>
                          </a:solidFill>
                        </a:rPr>
                        <a:t>Inference Latency</a:t>
                      </a:r>
                      <a:endParaRPr lang="en-US" sz="12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r>
              <a:tr h="653143">
                <a:tc>
                  <a:txBody>
                    <a:bodyPr/>
                    <a:lstStyle/>
                    <a:p>
                      <a:pPr algn="ctr" indent="0" marL="0">
                        <a:buNone/>
                      </a:pPr>
                      <a:r>
                        <a:rPr lang="en-US" sz="1200" dirty="0">
                          <a:solidFill>
                            <a:srgbClr val="334155"/>
                          </a:solidFill>
                        </a:rPr>
                        <a:t>Normal Traffic</a:t>
                      </a:r>
                      <a:endParaRPr lang="en-US" sz="12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4155"/>
                          </a:solidFill>
                        </a:rPr>
                        <a:t>98.4%</a:t>
                      </a:r>
                      <a:endParaRPr lang="en-US" sz="12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4155"/>
                          </a:solidFill>
                        </a:rPr>
                        <a:t>99.1%</a:t>
                      </a:r>
                      <a:endParaRPr lang="en-US" sz="12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4155"/>
                          </a:solidFill>
                        </a:rPr>
                        <a:t>98.7%</a:t>
                      </a:r>
                      <a:endParaRPr lang="en-US" sz="12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4155"/>
                          </a:solidFill>
                        </a:rPr>
                        <a:t>&lt; 2.0 ms</a:t>
                      </a:r>
                      <a:endParaRPr lang="en-US" sz="12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653143">
                <a:tc>
                  <a:txBody>
                    <a:bodyPr/>
                    <a:lstStyle/>
                    <a:p>
                      <a:pPr algn="ctr" indent="0" marL="0">
                        <a:buNone/>
                      </a:pPr>
                      <a:r>
                        <a:rPr lang="en-US" sz="1200" dirty="0">
                          <a:solidFill>
                            <a:srgbClr val="334155"/>
                          </a:solidFill>
                        </a:rPr>
                        <a:t>DDoS Attack</a:t>
                      </a:r>
                      <a:endParaRPr lang="en-US" sz="12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4155"/>
                          </a:solidFill>
                        </a:rPr>
                        <a:t>99.2%</a:t>
                      </a:r>
                      <a:endParaRPr lang="en-US" sz="12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4155"/>
                          </a:solidFill>
                        </a:rPr>
                        <a:t>98.8%</a:t>
                      </a:r>
                      <a:endParaRPr lang="en-US" sz="12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4155"/>
                          </a:solidFill>
                        </a:rPr>
                        <a:t>99.0%</a:t>
                      </a:r>
                      <a:endParaRPr lang="en-US" sz="12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4155"/>
                          </a:solidFill>
                        </a:rPr>
                        <a:t>&lt; 3.0 ms</a:t>
                      </a:r>
                      <a:endParaRPr lang="en-US" sz="12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653143">
                <a:tc>
                  <a:txBody>
                    <a:bodyPr/>
                    <a:lstStyle/>
                    <a:p>
                      <a:pPr algn="ctr" indent="0" marL="0">
                        <a:buNone/>
                      </a:pPr>
                      <a:r>
                        <a:rPr lang="en-US" sz="1200" dirty="0">
                          <a:solidFill>
                            <a:srgbClr val="334155"/>
                          </a:solidFill>
                        </a:rPr>
                        <a:t>Port Scanning</a:t>
                      </a:r>
                      <a:endParaRPr lang="en-US" sz="12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4155"/>
                          </a:solidFill>
                        </a:rPr>
                        <a:t>97.6%</a:t>
                      </a:r>
                      <a:endParaRPr lang="en-US" sz="12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4155"/>
                          </a:solidFill>
                        </a:rPr>
                        <a:t>96.5%</a:t>
                      </a:r>
                      <a:endParaRPr lang="en-US" sz="12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4155"/>
                          </a:solidFill>
                        </a:rPr>
                        <a:t>97.0%</a:t>
                      </a:r>
                      <a:endParaRPr lang="en-US" sz="12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4155"/>
                          </a:solidFill>
                        </a:rPr>
                        <a:t>&lt; 2.0 ms</a:t>
                      </a:r>
                      <a:endParaRPr lang="en-US" sz="12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653143">
                <a:tc>
                  <a:txBody>
                    <a:bodyPr/>
                    <a:lstStyle/>
                    <a:p>
                      <a:pPr algn="ctr" indent="0" marL="0">
                        <a:buNone/>
                      </a:pPr>
                      <a:r>
                        <a:rPr lang="en-US" sz="1200" dirty="0">
                          <a:solidFill>
                            <a:srgbClr val="334155"/>
                          </a:solidFill>
                        </a:rPr>
                        <a:t>SQL Injection</a:t>
                      </a:r>
                      <a:endParaRPr lang="en-US" sz="12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4155"/>
                          </a:solidFill>
                        </a:rPr>
                        <a:t>96.1%</a:t>
                      </a:r>
                      <a:endParaRPr lang="en-US" sz="12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4155"/>
                          </a:solidFill>
                        </a:rPr>
                        <a:t>95.3%</a:t>
                      </a:r>
                      <a:endParaRPr lang="en-US" sz="12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4155"/>
                          </a:solidFill>
                        </a:rPr>
                        <a:t>95.7%</a:t>
                      </a:r>
                      <a:endParaRPr lang="en-US" sz="12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4155"/>
                          </a:solidFill>
                        </a:rPr>
                        <a:t>&lt; 4.0 ms</a:t>
                      </a:r>
                      <a:endParaRPr lang="en-US" sz="12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653143">
                <a:tc>
                  <a:txBody>
                    <a:bodyPr/>
                    <a:lstStyle/>
                    <a:p>
                      <a:pPr algn="ctr" indent="0" marL="0">
                        <a:buNone/>
                      </a:pPr>
                      <a:r>
                        <a:rPr lang="en-US" sz="1200" dirty="0">
                          <a:solidFill>
                            <a:srgbClr val="334155"/>
                          </a:solidFill>
                        </a:rPr>
                        <a:t>Zero-Day / DGA Anomaly</a:t>
                      </a:r>
                      <a:endParaRPr lang="en-US" sz="12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4155"/>
                          </a:solidFill>
                        </a:rPr>
                        <a:t>93.8%</a:t>
                      </a:r>
                      <a:endParaRPr lang="en-US" sz="12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4155"/>
                          </a:solidFill>
                        </a:rPr>
                        <a:t>91.2%</a:t>
                      </a:r>
                      <a:endParaRPr lang="en-US" sz="12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4155"/>
                          </a:solidFill>
                        </a:rPr>
                        <a:t>92.5%</a:t>
                      </a:r>
                      <a:endParaRPr lang="en-US" sz="12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4155"/>
                          </a:solidFill>
                        </a:rPr>
                        <a:t>&lt; 5.0 ms</a:t>
                      </a:r>
                      <a:endParaRPr lang="en-US" sz="12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653143">
                <a:tc>
                  <a:txBody>
                    <a:bodyPr/>
                    <a:lstStyle/>
                    <a:p>
                      <a:pPr algn="ctr" indent="0" marL="0">
                        <a:buNone/>
                      </a:pPr>
                      <a:r>
                        <a:rPr lang="en-US" sz="1200" b="1" dirty="0">
                          <a:solidFill>
                            <a:srgbClr val="0284C7"/>
                          </a:solidFill>
                        </a:rPr>
                        <a:t>Overall System Average</a:t>
                      </a:r>
                      <a:endParaRPr lang="en-US" sz="12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0F9FF"/>
                    </a:solidFill>
                  </a:tcPr>
                </a:tc>
                <a:tc>
                  <a:txBody>
                    <a:bodyPr/>
                    <a:lstStyle/>
                    <a:p>
                      <a:pPr algn="ctr" indent="0" marL="0">
                        <a:buNone/>
                      </a:pPr>
                      <a:r>
                        <a:rPr lang="en-US" sz="1200" b="1" dirty="0">
                          <a:solidFill>
                            <a:srgbClr val="0284C7"/>
                          </a:solidFill>
                        </a:rPr>
                        <a:t>97.0%</a:t>
                      </a:r>
                      <a:endParaRPr lang="en-US" sz="12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0F9FF"/>
                    </a:solidFill>
                  </a:tcPr>
                </a:tc>
                <a:tc>
                  <a:txBody>
                    <a:bodyPr/>
                    <a:lstStyle/>
                    <a:p>
                      <a:pPr algn="ctr" indent="0" marL="0">
                        <a:buNone/>
                      </a:pPr>
                      <a:r>
                        <a:rPr lang="en-US" sz="1200" b="1" dirty="0">
                          <a:solidFill>
                            <a:srgbClr val="0284C7"/>
                          </a:solidFill>
                        </a:rPr>
                        <a:t>96.2%</a:t>
                      </a:r>
                      <a:endParaRPr lang="en-US" sz="12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0F9FF"/>
                    </a:solidFill>
                  </a:tcPr>
                </a:tc>
                <a:tc>
                  <a:txBody>
                    <a:bodyPr/>
                    <a:lstStyle/>
                    <a:p>
                      <a:pPr algn="ctr" indent="0" marL="0">
                        <a:buNone/>
                      </a:pPr>
                      <a:r>
                        <a:rPr lang="en-US" sz="1200" b="1" dirty="0">
                          <a:solidFill>
                            <a:srgbClr val="0284C7"/>
                          </a:solidFill>
                        </a:rPr>
                        <a:t>96.6%</a:t>
                      </a:r>
                      <a:endParaRPr lang="en-US" sz="12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0F9FF"/>
                    </a:solidFill>
                  </a:tcPr>
                </a:tc>
                <a:tc>
                  <a:txBody>
                    <a:bodyPr/>
                    <a:lstStyle/>
                    <a:p>
                      <a:pPr algn="ctr" indent="0" marL="0">
                        <a:buNone/>
                      </a:pPr>
                      <a:r>
                        <a:rPr lang="en-US" sz="1200" b="1" dirty="0">
                          <a:solidFill>
                            <a:srgbClr val="0284C7"/>
                          </a:solidFill>
                        </a:rPr>
                        <a:t>&lt; 3.2 ms</a:t>
                      </a:r>
                      <a:endParaRPr lang="en-US" sz="12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0F9FF"/>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6400800"/>
            <a:ext cx="10698480" cy="0"/>
          </a:xfrm>
          <a:prstGeom prst="line">
            <a:avLst/>
          </a:prstGeom>
          <a:noFill/>
          <a:ln w="12700">
            <a:solidFill>
              <a:srgbClr val="E2E8F0"/>
            </a:solidFill>
            <a:prstDash val="solid"/>
          </a:ln>
        </p:spPr>
      </p:sp>
      <p:sp>
        <p:nvSpPr>
          <p:cNvPr id="3" name="Text 1"/>
          <p:cNvSpPr/>
          <p:nvPr/>
        </p:nvSpPr>
        <p:spPr>
          <a:xfrm>
            <a:off x="731520" y="6446520"/>
            <a:ext cx="8229600" cy="274320"/>
          </a:xfrm>
          <a:prstGeom prst="rect">
            <a:avLst/>
          </a:prstGeom>
          <a:noFill/>
          <a:ln/>
        </p:spPr>
        <p:txBody>
          <a:bodyPr wrap="square" rtlCol="0" anchor="ctr"/>
          <a:lstStyle/>
          <a:p>
            <a:pPr indent="0" marL="0">
              <a:buNone/>
            </a:pPr>
            <a:r>
              <a:rPr lang="en-US" sz="900" dirty="0">
                <a:solidFill>
                  <a:srgbClr val="64748B"/>
                </a:solidFill>
              </a:rPr>
              <a:t>Intelligent Network Intrusion Detection System (AI-NIDS) | Academic Project Presentation</a:t>
            </a:r>
            <a:endParaRPr lang="en-US" sz="900" dirty="0"/>
          </a:p>
        </p:txBody>
      </p:sp>
      <p:sp>
        <p:nvSpPr>
          <p:cNvPr id="4" name="Text 2"/>
          <p:cNvSpPr/>
          <p:nvPr/>
        </p:nvSpPr>
        <p:spPr>
          <a:xfrm>
            <a:off x="731520" y="320040"/>
            <a:ext cx="10515600" cy="274320"/>
          </a:xfrm>
          <a:prstGeom prst="rect">
            <a:avLst/>
          </a:prstGeom>
          <a:noFill/>
          <a:ln/>
        </p:spPr>
        <p:txBody>
          <a:bodyPr wrap="square" rtlCol="0" anchor="ctr"/>
          <a:lstStyle/>
          <a:p>
            <a:pPr indent="0" marL="0">
              <a:buNone/>
            </a:pPr>
            <a:r>
              <a:rPr lang="en-US" sz="1000" b="1" dirty="0">
                <a:solidFill>
                  <a:srgbClr val="0284C7"/>
                </a:solidFill>
              </a:rPr>
              <a:t>AI-NIDS PROJECT PRESENTATION</a:t>
            </a:r>
            <a:endParaRPr lang="en-US" sz="1000" dirty="0"/>
          </a:p>
        </p:txBody>
      </p:sp>
      <p:sp>
        <p:nvSpPr>
          <p:cNvPr id="5" name="Text 3"/>
          <p:cNvSpPr/>
          <p:nvPr/>
        </p:nvSpPr>
        <p:spPr>
          <a:xfrm>
            <a:off x="731520" y="548640"/>
            <a:ext cx="10515600" cy="548640"/>
          </a:xfrm>
          <a:prstGeom prst="rect">
            <a:avLst/>
          </a:prstGeom>
          <a:noFill/>
          <a:ln/>
        </p:spPr>
        <p:txBody>
          <a:bodyPr wrap="square" rtlCol="0" anchor="ctr"/>
          <a:lstStyle/>
          <a:p>
            <a:pPr indent="0" marL="0">
              <a:buNone/>
            </a:pPr>
            <a:r>
              <a:rPr lang="en-US" sz="2200" b="1" dirty="0">
                <a:solidFill>
                  <a:srgbClr val="0F172A"/>
                </a:solidFill>
              </a:rPr>
              <a:t>Conclusion &amp; Major Project Contributions</a:t>
            </a:r>
            <a:endParaRPr lang="en-US" sz="2200" dirty="0"/>
          </a:p>
        </p:txBody>
      </p:sp>
      <p:sp>
        <p:nvSpPr>
          <p:cNvPr id="6" name="Shape 4"/>
          <p:cNvSpPr/>
          <p:nvPr/>
        </p:nvSpPr>
        <p:spPr>
          <a:xfrm>
            <a:off x="731520" y="1143000"/>
            <a:ext cx="10698480" cy="0"/>
          </a:xfrm>
          <a:prstGeom prst="line">
            <a:avLst/>
          </a:prstGeom>
          <a:noFill/>
          <a:ln w="19050">
            <a:solidFill>
              <a:srgbClr val="E2E8F0"/>
            </a:solidFill>
            <a:prstDash val="solid"/>
          </a:ln>
        </p:spPr>
      </p:sp>
      <p:sp>
        <p:nvSpPr>
          <p:cNvPr id="7" name="Shape 5"/>
          <p:cNvSpPr/>
          <p:nvPr/>
        </p:nvSpPr>
        <p:spPr>
          <a:xfrm>
            <a:off x="731520" y="1463040"/>
            <a:ext cx="5120640" cy="2103120"/>
          </a:xfrm>
          <a:prstGeom prst="roundRect">
            <a:avLst>
              <a:gd name="adj" fmla="val 2174"/>
            </a:avLst>
          </a:prstGeom>
          <a:solidFill>
            <a:srgbClr val="FFFFFF"/>
          </a:solidFill>
          <a:ln w="25400">
            <a:solidFill>
              <a:srgbClr val="0F172A"/>
            </a:solidFill>
            <a:prstDash val="solid"/>
          </a:ln>
        </p:spPr>
      </p:sp>
      <p:sp>
        <p:nvSpPr>
          <p:cNvPr id="8" name="Text 6"/>
          <p:cNvSpPr/>
          <p:nvPr/>
        </p:nvSpPr>
        <p:spPr>
          <a:xfrm>
            <a:off x="1005840" y="1645920"/>
            <a:ext cx="4572000" cy="365760"/>
          </a:xfrm>
          <a:prstGeom prst="rect">
            <a:avLst/>
          </a:prstGeom>
          <a:noFill/>
          <a:ln/>
        </p:spPr>
        <p:txBody>
          <a:bodyPr wrap="square" rtlCol="0" anchor="ctr"/>
          <a:lstStyle/>
          <a:p>
            <a:pPr indent="0" marL="0">
              <a:buNone/>
            </a:pPr>
            <a:r>
              <a:rPr lang="en-US" sz="1500" b="1" dirty="0">
                <a:solidFill>
                  <a:srgbClr val="0F172A"/>
                </a:solidFill>
              </a:rPr>
              <a:t>Hybrid Machine Learning Engine</a:t>
            </a:r>
            <a:endParaRPr lang="en-US" sz="1500" dirty="0"/>
          </a:p>
        </p:txBody>
      </p:sp>
      <p:sp>
        <p:nvSpPr>
          <p:cNvPr id="9" name="Text 7"/>
          <p:cNvSpPr/>
          <p:nvPr/>
        </p:nvSpPr>
        <p:spPr>
          <a:xfrm>
            <a:off x="1005840" y="2103120"/>
            <a:ext cx="4572000" cy="1280160"/>
          </a:xfrm>
          <a:prstGeom prst="rect">
            <a:avLst/>
          </a:prstGeom>
          <a:noFill/>
          <a:ln/>
        </p:spPr>
        <p:txBody>
          <a:bodyPr wrap="square" rtlCol="0" anchor="ctr"/>
          <a:lstStyle/>
          <a:p>
            <a:pPr indent="0" marL="0">
              <a:lnSpc>
                <a:spcPts val="1800"/>
              </a:lnSpc>
              <a:buNone/>
            </a:pPr>
            <a:r>
              <a:rPr lang="en-US" sz="1200" dirty="0">
                <a:solidFill>
                  <a:srgbClr val="334155"/>
                </a:solidFill>
              </a:rPr>
              <a:t>Successfully combined Supervised Random Forest classification with Unsupervised Shannon Entropy anomaly detection.</a:t>
            </a:r>
            <a:endParaRPr lang="en-US" sz="1200" dirty="0"/>
          </a:p>
        </p:txBody>
      </p:sp>
      <p:sp>
        <p:nvSpPr>
          <p:cNvPr id="10" name="Shape 8"/>
          <p:cNvSpPr/>
          <p:nvPr/>
        </p:nvSpPr>
        <p:spPr>
          <a:xfrm>
            <a:off x="6217920" y="1463040"/>
            <a:ext cx="5120640" cy="2103120"/>
          </a:xfrm>
          <a:prstGeom prst="roundRect">
            <a:avLst>
              <a:gd name="adj" fmla="val 2174"/>
            </a:avLst>
          </a:prstGeom>
          <a:solidFill>
            <a:srgbClr val="FFFFFF"/>
          </a:solidFill>
          <a:ln w="25400">
            <a:solidFill>
              <a:srgbClr val="0284C7"/>
            </a:solidFill>
            <a:prstDash val="solid"/>
          </a:ln>
        </p:spPr>
      </p:sp>
      <p:sp>
        <p:nvSpPr>
          <p:cNvPr id="11" name="Text 9"/>
          <p:cNvSpPr/>
          <p:nvPr/>
        </p:nvSpPr>
        <p:spPr>
          <a:xfrm>
            <a:off x="6492240" y="1645920"/>
            <a:ext cx="4572000" cy="365760"/>
          </a:xfrm>
          <a:prstGeom prst="rect">
            <a:avLst/>
          </a:prstGeom>
          <a:noFill/>
          <a:ln/>
        </p:spPr>
        <p:txBody>
          <a:bodyPr wrap="square" rtlCol="0" anchor="ctr"/>
          <a:lstStyle/>
          <a:p>
            <a:pPr indent="0" marL="0">
              <a:buNone/>
            </a:pPr>
            <a:r>
              <a:rPr lang="en-US" sz="1500" b="1" dirty="0">
                <a:solidFill>
                  <a:srgbClr val="0284C7"/>
                </a:solidFill>
              </a:rPr>
              <a:t>Real-Time SOC Web Dashboard</a:t>
            </a:r>
            <a:endParaRPr lang="en-US" sz="1500" dirty="0"/>
          </a:p>
        </p:txBody>
      </p:sp>
      <p:sp>
        <p:nvSpPr>
          <p:cNvPr id="12" name="Text 10"/>
          <p:cNvSpPr/>
          <p:nvPr/>
        </p:nvSpPr>
        <p:spPr>
          <a:xfrm>
            <a:off x="6492240" y="2103120"/>
            <a:ext cx="4572000" cy="1280160"/>
          </a:xfrm>
          <a:prstGeom prst="rect">
            <a:avLst/>
          </a:prstGeom>
          <a:noFill/>
          <a:ln/>
        </p:spPr>
        <p:txBody>
          <a:bodyPr wrap="square" rtlCol="0" anchor="ctr"/>
          <a:lstStyle/>
          <a:p>
            <a:pPr indent="0" marL="0">
              <a:lnSpc>
                <a:spcPts val="1800"/>
              </a:lnSpc>
              <a:buNone/>
            </a:pPr>
            <a:r>
              <a:rPr lang="en-US" sz="1200" dirty="0">
                <a:solidFill>
                  <a:srgbClr val="334155"/>
                </a:solidFill>
              </a:rPr>
              <a:t>Built a full-stack React 19 web interface featuring live Recharts telemetry, threat log feeds, and 1-click firewall block controls.</a:t>
            </a:r>
            <a:endParaRPr lang="en-US" sz="1200" dirty="0"/>
          </a:p>
        </p:txBody>
      </p:sp>
      <p:sp>
        <p:nvSpPr>
          <p:cNvPr id="13" name="Shape 11"/>
          <p:cNvSpPr/>
          <p:nvPr/>
        </p:nvSpPr>
        <p:spPr>
          <a:xfrm>
            <a:off x="731520" y="3840480"/>
            <a:ext cx="5120640" cy="2103120"/>
          </a:xfrm>
          <a:prstGeom prst="roundRect">
            <a:avLst>
              <a:gd name="adj" fmla="val 2174"/>
            </a:avLst>
          </a:prstGeom>
          <a:solidFill>
            <a:srgbClr val="FFFFFF"/>
          </a:solidFill>
          <a:ln w="25400">
            <a:solidFill>
              <a:srgbClr val="D97706"/>
            </a:solidFill>
            <a:prstDash val="solid"/>
          </a:ln>
        </p:spPr>
      </p:sp>
      <p:sp>
        <p:nvSpPr>
          <p:cNvPr id="14" name="Text 12"/>
          <p:cNvSpPr/>
          <p:nvPr/>
        </p:nvSpPr>
        <p:spPr>
          <a:xfrm>
            <a:off x="1005840" y="4023360"/>
            <a:ext cx="4572000" cy="365760"/>
          </a:xfrm>
          <a:prstGeom prst="rect">
            <a:avLst/>
          </a:prstGeom>
          <a:noFill/>
          <a:ln/>
        </p:spPr>
        <p:txBody>
          <a:bodyPr wrap="square" rtlCol="0" anchor="ctr"/>
          <a:lstStyle/>
          <a:p>
            <a:pPr indent="0" marL="0">
              <a:buNone/>
            </a:pPr>
            <a:r>
              <a:rPr lang="en-US" sz="1500" b="1" dirty="0">
                <a:solidFill>
                  <a:srgbClr val="D97706"/>
                </a:solidFill>
              </a:rPr>
              <a:t>Multi-Vector Security Inspection</a:t>
            </a:r>
            <a:endParaRPr lang="en-US" sz="1500" dirty="0"/>
          </a:p>
        </p:txBody>
      </p:sp>
      <p:sp>
        <p:nvSpPr>
          <p:cNvPr id="15" name="Text 13"/>
          <p:cNvSpPr/>
          <p:nvPr/>
        </p:nvSpPr>
        <p:spPr>
          <a:xfrm>
            <a:off x="1005840" y="4480560"/>
            <a:ext cx="4572000" cy="1280160"/>
          </a:xfrm>
          <a:prstGeom prst="rect">
            <a:avLst/>
          </a:prstGeom>
          <a:noFill/>
          <a:ln/>
        </p:spPr>
        <p:txBody>
          <a:bodyPr wrap="square" rtlCol="0" anchor="ctr"/>
          <a:lstStyle/>
          <a:p>
            <a:pPr indent="0" marL="0">
              <a:lnSpc>
                <a:spcPts val="1800"/>
              </a:lnSpc>
              <a:buNone/>
            </a:pPr>
            <a:r>
              <a:rPr lang="en-US" sz="1200" dirty="0">
                <a:solidFill>
                  <a:srgbClr val="334155"/>
                </a:solidFill>
              </a:rPr>
              <a:t>Unified flow packet telemetry, phishing URL inspection, and static file payload parsing into a single operational platform.</a:t>
            </a:r>
            <a:endParaRPr lang="en-US" sz="1200" dirty="0"/>
          </a:p>
        </p:txBody>
      </p:sp>
      <p:sp>
        <p:nvSpPr>
          <p:cNvPr id="16" name="Shape 14"/>
          <p:cNvSpPr/>
          <p:nvPr/>
        </p:nvSpPr>
        <p:spPr>
          <a:xfrm>
            <a:off x="6217920" y="3840480"/>
            <a:ext cx="5120640" cy="2103120"/>
          </a:xfrm>
          <a:prstGeom prst="roundRect">
            <a:avLst>
              <a:gd name="adj" fmla="val 2174"/>
            </a:avLst>
          </a:prstGeom>
          <a:solidFill>
            <a:srgbClr val="FFFFFF"/>
          </a:solidFill>
          <a:ln w="25400">
            <a:solidFill>
              <a:srgbClr val="DC2626"/>
            </a:solidFill>
            <a:prstDash val="solid"/>
          </a:ln>
        </p:spPr>
      </p:sp>
      <p:sp>
        <p:nvSpPr>
          <p:cNvPr id="17" name="Text 15"/>
          <p:cNvSpPr/>
          <p:nvPr/>
        </p:nvSpPr>
        <p:spPr>
          <a:xfrm>
            <a:off x="6492240" y="4023360"/>
            <a:ext cx="4572000" cy="365760"/>
          </a:xfrm>
          <a:prstGeom prst="rect">
            <a:avLst/>
          </a:prstGeom>
          <a:noFill/>
          <a:ln/>
        </p:spPr>
        <p:txBody>
          <a:bodyPr wrap="square" rtlCol="0" anchor="ctr"/>
          <a:lstStyle/>
          <a:p>
            <a:pPr indent="0" marL="0">
              <a:buNone/>
            </a:pPr>
            <a:r>
              <a:rPr lang="en-US" sz="1500" b="1" dirty="0">
                <a:solidFill>
                  <a:srgbClr val="DC2626"/>
                </a:solidFill>
              </a:rPr>
              <a:t>Scalable Cloud Deployment</a:t>
            </a:r>
            <a:endParaRPr lang="en-US" sz="1500" dirty="0"/>
          </a:p>
        </p:txBody>
      </p:sp>
      <p:sp>
        <p:nvSpPr>
          <p:cNvPr id="18" name="Text 16"/>
          <p:cNvSpPr/>
          <p:nvPr/>
        </p:nvSpPr>
        <p:spPr>
          <a:xfrm>
            <a:off x="6492240" y="4480560"/>
            <a:ext cx="4572000" cy="1280160"/>
          </a:xfrm>
          <a:prstGeom prst="rect">
            <a:avLst/>
          </a:prstGeom>
          <a:noFill/>
          <a:ln/>
        </p:spPr>
        <p:txBody>
          <a:bodyPr wrap="square" rtlCol="0" anchor="ctr"/>
          <a:lstStyle/>
          <a:p>
            <a:pPr indent="0" marL="0">
              <a:lnSpc>
                <a:spcPts val="1800"/>
              </a:lnSpc>
              <a:buNone/>
            </a:pPr>
            <a:r>
              <a:rPr lang="en-US" sz="1200" dirty="0">
                <a:solidFill>
                  <a:srgbClr val="334155"/>
                </a:solidFill>
              </a:rPr>
              <a:t>Packaged backend services into Docker Compose containers and AWS Lambda serverless functions (Dockerfile.lambda) for horizontal auto-scaling.</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6400800"/>
            <a:ext cx="10698480" cy="0"/>
          </a:xfrm>
          <a:prstGeom prst="line">
            <a:avLst/>
          </a:prstGeom>
          <a:noFill/>
          <a:ln w="12700">
            <a:solidFill>
              <a:srgbClr val="E2E8F0"/>
            </a:solidFill>
            <a:prstDash val="solid"/>
          </a:ln>
        </p:spPr>
      </p:sp>
      <p:sp>
        <p:nvSpPr>
          <p:cNvPr id="3" name="Text 1"/>
          <p:cNvSpPr/>
          <p:nvPr/>
        </p:nvSpPr>
        <p:spPr>
          <a:xfrm>
            <a:off x="731520" y="6446520"/>
            <a:ext cx="8229600" cy="274320"/>
          </a:xfrm>
          <a:prstGeom prst="rect">
            <a:avLst/>
          </a:prstGeom>
          <a:noFill/>
          <a:ln/>
        </p:spPr>
        <p:txBody>
          <a:bodyPr wrap="square" rtlCol="0" anchor="ctr"/>
          <a:lstStyle/>
          <a:p>
            <a:pPr indent="0" marL="0">
              <a:buNone/>
            </a:pPr>
            <a:r>
              <a:rPr lang="en-US" sz="900" dirty="0">
                <a:solidFill>
                  <a:srgbClr val="64748B"/>
                </a:solidFill>
              </a:rPr>
              <a:t>Intelligent Network Intrusion Detection System (AI-NIDS) | Academic Project Presentation</a:t>
            </a:r>
            <a:endParaRPr lang="en-US" sz="900" dirty="0"/>
          </a:p>
        </p:txBody>
      </p:sp>
      <p:sp>
        <p:nvSpPr>
          <p:cNvPr id="4" name="Text 2"/>
          <p:cNvSpPr/>
          <p:nvPr/>
        </p:nvSpPr>
        <p:spPr>
          <a:xfrm>
            <a:off x="731520" y="320040"/>
            <a:ext cx="10515600" cy="274320"/>
          </a:xfrm>
          <a:prstGeom prst="rect">
            <a:avLst/>
          </a:prstGeom>
          <a:noFill/>
          <a:ln/>
        </p:spPr>
        <p:txBody>
          <a:bodyPr wrap="square" rtlCol="0" anchor="ctr"/>
          <a:lstStyle/>
          <a:p>
            <a:pPr indent="0" marL="0">
              <a:buNone/>
            </a:pPr>
            <a:r>
              <a:rPr lang="en-US" sz="1000" b="1" dirty="0">
                <a:solidFill>
                  <a:srgbClr val="0284C7"/>
                </a:solidFill>
              </a:rPr>
              <a:t>AI-NIDS PROJECT PRESENTATION</a:t>
            </a:r>
            <a:endParaRPr lang="en-US" sz="1000" dirty="0"/>
          </a:p>
        </p:txBody>
      </p:sp>
      <p:sp>
        <p:nvSpPr>
          <p:cNvPr id="5" name="Text 3"/>
          <p:cNvSpPr/>
          <p:nvPr/>
        </p:nvSpPr>
        <p:spPr>
          <a:xfrm>
            <a:off x="731520" y="548640"/>
            <a:ext cx="10515600" cy="548640"/>
          </a:xfrm>
          <a:prstGeom prst="rect">
            <a:avLst/>
          </a:prstGeom>
          <a:noFill/>
          <a:ln/>
        </p:spPr>
        <p:txBody>
          <a:bodyPr wrap="square" rtlCol="0" anchor="ctr"/>
          <a:lstStyle/>
          <a:p>
            <a:pPr indent="0" marL="0">
              <a:buNone/>
            </a:pPr>
            <a:r>
              <a:rPr lang="en-US" sz="2200" b="1" dirty="0">
                <a:solidFill>
                  <a:srgbClr val="0F172A"/>
                </a:solidFill>
              </a:rPr>
              <a:t>Future Scope &amp; Feature Roadmap</a:t>
            </a:r>
            <a:endParaRPr lang="en-US" sz="2200" dirty="0"/>
          </a:p>
        </p:txBody>
      </p:sp>
      <p:sp>
        <p:nvSpPr>
          <p:cNvPr id="6" name="Shape 4"/>
          <p:cNvSpPr/>
          <p:nvPr/>
        </p:nvSpPr>
        <p:spPr>
          <a:xfrm>
            <a:off x="731520" y="1143000"/>
            <a:ext cx="10698480" cy="0"/>
          </a:xfrm>
          <a:prstGeom prst="line">
            <a:avLst/>
          </a:prstGeom>
          <a:noFill/>
          <a:ln w="19050">
            <a:solidFill>
              <a:srgbClr val="E2E8F0"/>
            </a:solidFill>
            <a:prstDash val="solid"/>
          </a:ln>
        </p:spPr>
      </p:sp>
      <p:sp>
        <p:nvSpPr>
          <p:cNvPr id="7" name="Shape 5"/>
          <p:cNvSpPr/>
          <p:nvPr/>
        </p:nvSpPr>
        <p:spPr>
          <a:xfrm>
            <a:off x="731520" y="1463040"/>
            <a:ext cx="2514600" cy="3657600"/>
          </a:xfrm>
          <a:prstGeom prst="roundRect">
            <a:avLst>
              <a:gd name="adj" fmla="val 1818"/>
            </a:avLst>
          </a:prstGeom>
          <a:solidFill>
            <a:srgbClr val="FFFFFF"/>
          </a:solidFill>
          <a:ln w="25400">
            <a:solidFill>
              <a:srgbClr val="0284C7"/>
            </a:solidFill>
            <a:prstDash val="solid"/>
          </a:ln>
        </p:spPr>
      </p:sp>
      <p:sp>
        <p:nvSpPr>
          <p:cNvPr id="8" name="Text 6"/>
          <p:cNvSpPr/>
          <p:nvPr/>
        </p:nvSpPr>
        <p:spPr>
          <a:xfrm>
            <a:off x="914400" y="1645920"/>
            <a:ext cx="2148840" cy="548640"/>
          </a:xfrm>
          <a:prstGeom prst="rect">
            <a:avLst/>
          </a:prstGeom>
          <a:noFill/>
          <a:ln/>
        </p:spPr>
        <p:txBody>
          <a:bodyPr wrap="square" rtlCol="0" anchor="ctr"/>
          <a:lstStyle/>
          <a:p>
            <a:pPr indent="0" marL="0">
              <a:buNone/>
            </a:pPr>
            <a:r>
              <a:rPr lang="en-US" sz="1400" b="1" dirty="0">
                <a:solidFill>
                  <a:srgbClr val="0284C7"/>
                </a:solidFill>
              </a:rPr>
              <a:t>Deep Learning Integration</a:t>
            </a:r>
            <a:endParaRPr lang="en-US" sz="1400" dirty="0"/>
          </a:p>
        </p:txBody>
      </p:sp>
      <p:sp>
        <p:nvSpPr>
          <p:cNvPr id="9" name="Text 7"/>
          <p:cNvSpPr/>
          <p:nvPr/>
        </p:nvSpPr>
        <p:spPr>
          <a:xfrm>
            <a:off x="914400" y="2286000"/>
            <a:ext cx="2148840" cy="2651760"/>
          </a:xfrm>
          <a:prstGeom prst="rect">
            <a:avLst/>
          </a:prstGeom>
          <a:noFill/>
          <a:ln/>
        </p:spPr>
        <p:txBody>
          <a:bodyPr wrap="square" rtlCol="0" anchor="ctr"/>
          <a:lstStyle/>
          <a:p>
            <a:pPr indent="0" marL="0">
              <a:lnSpc>
                <a:spcPts val="1600"/>
              </a:lnSpc>
              <a:buNone/>
            </a:pPr>
            <a:r>
              <a:rPr lang="en-US" sz="1100" dirty="0">
                <a:solidFill>
                  <a:srgbClr val="334155"/>
                </a:solidFill>
              </a:rPr>
              <a:t>Implementing Long Short-Term Memory (LSTM) networks and Autoencoders for temporal flow sequence anomaly detection.</a:t>
            </a:r>
            <a:endParaRPr lang="en-US" sz="1100" dirty="0"/>
          </a:p>
        </p:txBody>
      </p:sp>
      <p:sp>
        <p:nvSpPr>
          <p:cNvPr id="10" name="Shape 8"/>
          <p:cNvSpPr/>
          <p:nvPr/>
        </p:nvSpPr>
        <p:spPr>
          <a:xfrm>
            <a:off x="3429000" y="1463040"/>
            <a:ext cx="2514600" cy="3657600"/>
          </a:xfrm>
          <a:prstGeom prst="roundRect">
            <a:avLst>
              <a:gd name="adj" fmla="val 1818"/>
            </a:avLst>
          </a:prstGeom>
          <a:solidFill>
            <a:srgbClr val="FFFFFF"/>
          </a:solidFill>
          <a:ln w="25400">
            <a:solidFill>
              <a:srgbClr val="0F172A"/>
            </a:solidFill>
            <a:prstDash val="solid"/>
          </a:ln>
        </p:spPr>
      </p:sp>
      <p:sp>
        <p:nvSpPr>
          <p:cNvPr id="11" name="Text 9"/>
          <p:cNvSpPr/>
          <p:nvPr/>
        </p:nvSpPr>
        <p:spPr>
          <a:xfrm>
            <a:off x="3611880" y="1645920"/>
            <a:ext cx="2148840" cy="548640"/>
          </a:xfrm>
          <a:prstGeom prst="rect">
            <a:avLst/>
          </a:prstGeom>
          <a:noFill/>
          <a:ln/>
        </p:spPr>
        <p:txBody>
          <a:bodyPr wrap="square" rtlCol="0" anchor="ctr"/>
          <a:lstStyle/>
          <a:p>
            <a:pPr indent="0" marL="0">
              <a:buNone/>
            </a:pPr>
            <a:r>
              <a:rPr lang="en-US" sz="1400" b="1" dirty="0">
                <a:solidFill>
                  <a:srgbClr val="0F172A"/>
                </a:solidFill>
              </a:rPr>
              <a:t>Distributed Edge Sensors</a:t>
            </a:r>
            <a:endParaRPr lang="en-US" sz="1400" dirty="0"/>
          </a:p>
        </p:txBody>
      </p:sp>
      <p:sp>
        <p:nvSpPr>
          <p:cNvPr id="12" name="Text 10"/>
          <p:cNvSpPr/>
          <p:nvPr/>
        </p:nvSpPr>
        <p:spPr>
          <a:xfrm>
            <a:off x="3611880" y="2286000"/>
            <a:ext cx="2148840" cy="2651760"/>
          </a:xfrm>
          <a:prstGeom prst="rect">
            <a:avLst/>
          </a:prstGeom>
          <a:noFill/>
          <a:ln/>
        </p:spPr>
        <p:txBody>
          <a:bodyPr wrap="square" rtlCol="0" anchor="ctr"/>
          <a:lstStyle/>
          <a:p>
            <a:pPr indent="0" marL="0">
              <a:lnSpc>
                <a:spcPts val="1600"/>
              </a:lnSpc>
              <a:buNone/>
            </a:pPr>
            <a:r>
              <a:rPr lang="en-US" sz="1100" dirty="0">
                <a:solidFill>
                  <a:srgbClr val="334155"/>
                </a:solidFill>
              </a:rPr>
              <a:t>Deploying lightweight AI-NIDS probes across regional subnet routers feeding a central SIEM database lake.</a:t>
            </a:r>
            <a:endParaRPr lang="en-US" sz="1100" dirty="0"/>
          </a:p>
        </p:txBody>
      </p:sp>
      <p:sp>
        <p:nvSpPr>
          <p:cNvPr id="13" name="Shape 11"/>
          <p:cNvSpPr/>
          <p:nvPr/>
        </p:nvSpPr>
        <p:spPr>
          <a:xfrm>
            <a:off x="6126480" y="1463040"/>
            <a:ext cx="2514600" cy="3657600"/>
          </a:xfrm>
          <a:prstGeom prst="roundRect">
            <a:avLst>
              <a:gd name="adj" fmla="val 1818"/>
            </a:avLst>
          </a:prstGeom>
          <a:solidFill>
            <a:srgbClr val="FFFFFF"/>
          </a:solidFill>
          <a:ln w="25400">
            <a:solidFill>
              <a:srgbClr val="D97706"/>
            </a:solidFill>
            <a:prstDash val="solid"/>
          </a:ln>
        </p:spPr>
      </p:sp>
      <p:sp>
        <p:nvSpPr>
          <p:cNvPr id="14" name="Text 12"/>
          <p:cNvSpPr/>
          <p:nvPr/>
        </p:nvSpPr>
        <p:spPr>
          <a:xfrm>
            <a:off x="6309360" y="1645920"/>
            <a:ext cx="2148840" cy="548640"/>
          </a:xfrm>
          <a:prstGeom prst="rect">
            <a:avLst/>
          </a:prstGeom>
          <a:noFill/>
          <a:ln/>
        </p:spPr>
        <p:txBody>
          <a:bodyPr wrap="square" rtlCol="0" anchor="ctr"/>
          <a:lstStyle/>
          <a:p>
            <a:pPr indent="0" marL="0">
              <a:buNone/>
            </a:pPr>
            <a:r>
              <a:rPr lang="en-US" sz="1400" b="1" dirty="0">
                <a:solidFill>
                  <a:srgbClr val="D97706"/>
                </a:solidFill>
              </a:rPr>
              <a:t>Automated SOAR Playbooks</a:t>
            </a:r>
            <a:endParaRPr lang="en-US" sz="1400" dirty="0"/>
          </a:p>
        </p:txBody>
      </p:sp>
      <p:sp>
        <p:nvSpPr>
          <p:cNvPr id="15" name="Text 13"/>
          <p:cNvSpPr/>
          <p:nvPr/>
        </p:nvSpPr>
        <p:spPr>
          <a:xfrm>
            <a:off x="6309360" y="2286000"/>
            <a:ext cx="2148840" cy="2651760"/>
          </a:xfrm>
          <a:prstGeom prst="rect">
            <a:avLst/>
          </a:prstGeom>
          <a:noFill/>
          <a:ln/>
        </p:spPr>
        <p:txBody>
          <a:bodyPr wrap="square" rtlCol="0" anchor="ctr"/>
          <a:lstStyle/>
          <a:p>
            <a:pPr indent="0" marL="0">
              <a:lnSpc>
                <a:spcPts val="1600"/>
              </a:lnSpc>
              <a:buNone/>
            </a:pPr>
            <a:r>
              <a:rPr lang="en-US" sz="1100" dirty="0">
                <a:solidFill>
                  <a:srgbClr val="334155"/>
                </a:solidFill>
              </a:rPr>
              <a:t>Generating dynamic BGP routing updates and active firewall blocking scripts automatically upon critical alert trigger.</a:t>
            </a:r>
            <a:endParaRPr lang="en-US" sz="1100" dirty="0"/>
          </a:p>
        </p:txBody>
      </p:sp>
      <p:sp>
        <p:nvSpPr>
          <p:cNvPr id="16" name="Shape 14"/>
          <p:cNvSpPr/>
          <p:nvPr/>
        </p:nvSpPr>
        <p:spPr>
          <a:xfrm>
            <a:off x="8823960" y="1463040"/>
            <a:ext cx="2514600" cy="3657600"/>
          </a:xfrm>
          <a:prstGeom prst="roundRect">
            <a:avLst>
              <a:gd name="adj" fmla="val 1818"/>
            </a:avLst>
          </a:prstGeom>
          <a:solidFill>
            <a:srgbClr val="FFFFFF"/>
          </a:solidFill>
          <a:ln w="25400">
            <a:solidFill>
              <a:srgbClr val="DC2626"/>
            </a:solidFill>
            <a:prstDash val="solid"/>
          </a:ln>
        </p:spPr>
      </p:sp>
      <p:sp>
        <p:nvSpPr>
          <p:cNvPr id="17" name="Text 15"/>
          <p:cNvSpPr/>
          <p:nvPr/>
        </p:nvSpPr>
        <p:spPr>
          <a:xfrm>
            <a:off x="9006840" y="1645920"/>
            <a:ext cx="2148840" cy="548640"/>
          </a:xfrm>
          <a:prstGeom prst="rect">
            <a:avLst/>
          </a:prstGeom>
          <a:noFill/>
          <a:ln/>
        </p:spPr>
        <p:txBody>
          <a:bodyPr wrap="square" rtlCol="0" anchor="ctr"/>
          <a:lstStyle/>
          <a:p>
            <a:pPr indent="0" marL="0">
              <a:buNone/>
            </a:pPr>
            <a:r>
              <a:rPr lang="en-US" sz="1400" b="1" dirty="0">
                <a:solidFill>
                  <a:srgbClr val="DC2626"/>
                </a:solidFill>
              </a:rPr>
              <a:t>Explainable AI (XAI)</a:t>
            </a:r>
            <a:endParaRPr lang="en-US" sz="1400" dirty="0"/>
          </a:p>
        </p:txBody>
      </p:sp>
      <p:sp>
        <p:nvSpPr>
          <p:cNvPr id="18" name="Text 16"/>
          <p:cNvSpPr/>
          <p:nvPr/>
        </p:nvSpPr>
        <p:spPr>
          <a:xfrm>
            <a:off x="9006840" y="2286000"/>
            <a:ext cx="2148840" cy="2651760"/>
          </a:xfrm>
          <a:prstGeom prst="rect">
            <a:avLst/>
          </a:prstGeom>
          <a:noFill/>
          <a:ln/>
        </p:spPr>
        <p:txBody>
          <a:bodyPr wrap="square" rtlCol="0" anchor="ctr"/>
          <a:lstStyle/>
          <a:p>
            <a:pPr indent="0" marL="0">
              <a:lnSpc>
                <a:spcPts val="1600"/>
              </a:lnSpc>
              <a:buNone/>
            </a:pPr>
            <a:r>
              <a:rPr lang="en-US" sz="1100" dirty="0">
                <a:solidFill>
                  <a:srgbClr val="334155"/>
                </a:solidFill>
              </a:rPr>
              <a:t>Incorporating SHAP values to provide security analysts with clear feature importance attribution for every flagged threat.</a:t>
            </a:r>
            <a:endParaRPr lang="en-US" sz="1100" dirty="0"/>
          </a:p>
        </p:txBody>
      </p:sp>
      <p:sp>
        <p:nvSpPr>
          <p:cNvPr id="19" name="Shape 17"/>
          <p:cNvSpPr/>
          <p:nvPr/>
        </p:nvSpPr>
        <p:spPr>
          <a:xfrm>
            <a:off x="731520" y="5303520"/>
            <a:ext cx="10698480" cy="731520"/>
          </a:xfrm>
          <a:prstGeom prst="roundRect">
            <a:avLst>
              <a:gd name="adj" fmla="val 6250"/>
            </a:avLst>
          </a:prstGeom>
          <a:solidFill>
            <a:srgbClr val="F0F9FF"/>
          </a:solidFill>
          <a:ln w="19050">
            <a:solidFill>
              <a:srgbClr val="0284C7"/>
            </a:solidFill>
            <a:prstDash val="solid"/>
          </a:ln>
        </p:spPr>
      </p:sp>
      <p:sp>
        <p:nvSpPr>
          <p:cNvPr id="20" name="Text 18"/>
          <p:cNvSpPr/>
          <p:nvPr/>
        </p:nvSpPr>
        <p:spPr>
          <a:xfrm>
            <a:off x="731520" y="5303520"/>
            <a:ext cx="10698480" cy="731520"/>
          </a:xfrm>
          <a:prstGeom prst="rect">
            <a:avLst/>
          </a:prstGeom>
          <a:noFill/>
          <a:ln/>
        </p:spPr>
        <p:txBody>
          <a:bodyPr wrap="square" rtlCol="0" anchor="ctr"/>
          <a:lstStyle/>
          <a:p>
            <a:pPr algn="ctr" indent="0" marL="0">
              <a:buNone/>
            </a:pPr>
            <a:r>
              <a:rPr lang="en-US" sz="1500" b="1" dirty="0">
                <a:solidFill>
                  <a:srgbClr val="0284C7"/>
                </a:solidFill>
              </a:rPr>
              <a:t>Thank You! Open for Questions &amp; Academic Discussion.</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AI-NIDS: Intelligent Network Intrusion Detection System</dc:title>
  <dc:subject>PptxGenJS Presentation</dc:subject>
  <dc:creator>AI-NIDS Development Team</dc:creator>
  <cp:lastModifiedBy>AI-NIDS Development Team</cp:lastModifiedBy>
  <cp:revision>1</cp:revision>
  <dcterms:created xsi:type="dcterms:W3CDTF">2026-09-21T18:39:24Z</dcterms:created>
  <dcterms:modified xsi:type="dcterms:W3CDTF">2026-09-21T18:39:24Z</dcterms:modified>
</cp:coreProperties>
</file>